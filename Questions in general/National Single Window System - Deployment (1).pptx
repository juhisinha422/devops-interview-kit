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65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>
        <p:scale>
          <a:sx n="66" d="100"/>
          <a:sy n="66" d="100"/>
        </p:scale>
        <p:origin x="85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94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A83332-9A30-4071-BE1C-A7FBCEB4D4E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5EF5708-3809-4D88-ACC6-0E90C3125281}">
      <dgm:prSet phldrT="[Text]" custT="1"/>
      <dgm:spPr>
        <a:solidFill>
          <a:schemeClr val="bg1"/>
        </a:solidFill>
        <a:ln>
          <a:solidFill>
            <a:srgbClr val="002060"/>
          </a:solidFill>
        </a:ln>
      </dgm:spPr>
      <dgm:t>
        <a:bodyPr/>
        <a:lstStyle/>
        <a:p>
          <a:r>
            <a:rPr lang="en-US" sz="1800" dirty="0">
              <a:solidFill>
                <a:schemeClr val="tx1"/>
              </a:solidFill>
              <a:latin typeface="Georgia" panose="02040502050405020303" pitchFamily="18" charset="0"/>
            </a:rPr>
            <a:t>Artifact Build</a:t>
          </a:r>
        </a:p>
      </dgm:t>
    </dgm:pt>
    <dgm:pt modelId="{0531C24F-673A-4D99-8D76-47B611C327B3}" type="parTrans" cxnId="{936AD9EC-8064-40F2-9E37-51D4CACE633E}">
      <dgm:prSet/>
      <dgm:spPr/>
      <dgm:t>
        <a:bodyPr/>
        <a:lstStyle/>
        <a:p>
          <a:endParaRPr lang="en-US"/>
        </a:p>
      </dgm:t>
    </dgm:pt>
    <dgm:pt modelId="{572A8809-7E4A-4B85-8189-8C05829C7DFA}" type="sibTrans" cxnId="{936AD9EC-8064-40F2-9E37-51D4CACE633E}">
      <dgm:prSet/>
      <dgm:spPr>
        <a:solidFill>
          <a:schemeClr val="bg1"/>
        </a:solidFill>
        <a:ln>
          <a:solidFill>
            <a:srgbClr val="002060"/>
          </a:solidFill>
        </a:ln>
      </dgm:spPr>
      <dgm:t>
        <a:bodyPr/>
        <a:lstStyle/>
        <a:p>
          <a:endParaRPr lang="en-US" dirty="0"/>
        </a:p>
      </dgm:t>
    </dgm:pt>
    <dgm:pt modelId="{98673D03-28E8-42CC-A18E-72A793C18432}">
      <dgm:prSet phldrT="[Text]" custT="1"/>
      <dgm:spPr>
        <a:solidFill>
          <a:schemeClr val="bg1"/>
        </a:solidFill>
        <a:ln>
          <a:solidFill>
            <a:srgbClr val="002060"/>
          </a:solidFill>
        </a:ln>
      </dgm:spPr>
      <dgm:t>
        <a:bodyPr/>
        <a:lstStyle/>
        <a:p>
          <a:r>
            <a:rPr lang="en-US" sz="1800" dirty="0">
              <a:solidFill>
                <a:schemeClr val="tx1"/>
              </a:solidFill>
              <a:latin typeface="Georgia" panose="02040502050405020303" pitchFamily="18" charset="0"/>
            </a:rPr>
            <a:t>Docker Image Build</a:t>
          </a:r>
        </a:p>
      </dgm:t>
    </dgm:pt>
    <dgm:pt modelId="{E4B6B9C6-3020-4049-BF8A-5C71FB0D48ED}" type="parTrans" cxnId="{4FB02B46-7749-4224-80E8-1AE98D0A3307}">
      <dgm:prSet/>
      <dgm:spPr/>
      <dgm:t>
        <a:bodyPr/>
        <a:lstStyle/>
        <a:p>
          <a:endParaRPr lang="en-US"/>
        </a:p>
      </dgm:t>
    </dgm:pt>
    <dgm:pt modelId="{B21F7C90-ABFB-4BF8-B07C-A83C52E18656}" type="sibTrans" cxnId="{4FB02B46-7749-4224-80E8-1AE98D0A3307}">
      <dgm:prSet/>
      <dgm:spPr>
        <a:solidFill>
          <a:schemeClr val="bg1"/>
        </a:solidFill>
        <a:ln>
          <a:solidFill>
            <a:srgbClr val="002060"/>
          </a:solidFill>
        </a:ln>
      </dgm:spPr>
      <dgm:t>
        <a:bodyPr/>
        <a:lstStyle/>
        <a:p>
          <a:endParaRPr lang="en-US"/>
        </a:p>
      </dgm:t>
    </dgm:pt>
    <dgm:pt modelId="{603CAB10-05F7-4AEA-80B4-9ABF82146BB3}">
      <dgm:prSet phldrT="[Text]" custT="1"/>
      <dgm:spPr>
        <a:solidFill>
          <a:schemeClr val="bg1"/>
        </a:solidFill>
        <a:ln>
          <a:solidFill>
            <a:srgbClr val="002060"/>
          </a:solidFill>
        </a:ln>
      </dgm:spPr>
      <dgm:t>
        <a:bodyPr/>
        <a:lstStyle/>
        <a:p>
          <a:r>
            <a:rPr lang="en-US" sz="1800" dirty="0">
              <a:solidFill>
                <a:schemeClr val="tx1"/>
              </a:solidFill>
              <a:latin typeface="Georgia" panose="02040502050405020303" pitchFamily="18" charset="0"/>
            </a:rPr>
            <a:t>Elastic Container Registry</a:t>
          </a:r>
        </a:p>
      </dgm:t>
    </dgm:pt>
    <dgm:pt modelId="{0FE78898-9421-4028-ABC1-EDB3D1EB0269}" type="parTrans" cxnId="{1DF295EE-3EE4-4DD8-B329-CA32C31F668E}">
      <dgm:prSet/>
      <dgm:spPr/>
      <dgm:t>
        <a:bodyPr/>
        <a:lstStyle/>
        <a:p>
          <a:endParaRPr lang="en-US"/>
        </a:p>
      </dgm:t>
    </dgm:pt>
    <dgm:pt modelId="{D71C1632-E245-4EF7-BBF9-09BD43664E59}" type="sibTrans" cxnId="{1DF295EE-3EE4-4DD8-B329-CA32C31F668E}">
      <dgm:prSet/>
      <dgm:spPr>
        <a:solidFill>
          <a:schemeClr val="bg1"/>
        </a:solidFill>
        <a:ln>
          <a:solidFill>
            <a:srgbClr val="002060"/>
          </a:solidFill>
        </a:ln>
      </dgm:spPr>
      <dgm:t>
        <a:bodyPr/>
        <a:lstStyle/>
        <a:p>
          <a:endParaRPr lang="en-US"/>
        </a:p>
      </dgm:t>
    </dgm:pt>
    <dgm:pt modelId="{EB9B6E08-BAF9-4025-874B-DA2D81A6E981}">
      <dgm:prSet custT="1"/>
      <dgm:spPr>
        <a:solidFill>
          <a:schemeClr val="bg1"/>
        </a:solidFill>
        <a:ln>
          <a:solidFill>
            <a:srgbClr val="002060"/>
          </a:solidFill>
        </a:ln>
      </dgm:spPr>
      <dgm:t>
        <a:bodyPr/>
        <a:lstStyle/>
        <a:p>
          <a:r>
            <a:rPr lang="en-US" sz="1800" dirty="0">
              <a:solidFill>
                <a:schemeClr val="tx1"/>
              </a:solidFill>
              <a:latin typeface="Georgia" panose="02040502050405020303" pitchFamily="18" charset="0"/>
            </a:rPr>
            <a:t>Deploying in Kubernetes</a:t>
          </a:r>
        </a:p>
      </dgm:t>
    </dgm:pt>
    <dgm:pt modelId="{2870786E-52BB-44C5-8B84-7B8455858AB6}" type="parTrans" cxnId="{33FFD2C3-4377-4D96-AB22-2872E21253A7}">
      <dgm:prSet/>
      <dgm:spPr/>
      <dgm:t>
        <a:bodyPr/>
        <a:lstStyle/>
        <a:p>
          <a:endParaRPr lang="en-US"/>
        </a:p>
      </dgm:t>
    </dgm:pt>
    <dgm:pt modelId="{091B95CE-16FC-4715-A2DD-1B8DAC74362F}" type="sibTrans" cxnId="{33FFD2C3-4377-4D96-AB22-2872E21253A7}">
      <dgm:prSet/>
      <dgm:spPr>
        <a:solidFill>
          <a:schemeClr val="bg1"/>
        </a:solidFill>
        <a:ln>
          <a:solidFill>
            <a:srgbClr val="002060"/>
          </a:solidFill>
        </a:ln>
      </dgm:spPr>
      <dgm:t>
        <a:bodyPr/>
        <a:lstStyle/>
        <a:p>
          <a:endParaRPr lang="en-US"/>
        </a:p>
      </dgm:t>
    </dgm:pt>
    <dgm:pt modelId="{E36712FA-B8B3-4103-BB0E-300AEABEBDFF}">
      <dgm:prSet custT="1"/>
      <dgm:spPr>
        <a:solidFill>
          <a:schemeClr val="bg1"/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800" dirty="0">
              <a:solidFill>
                <a:schemeClr val="tx1"/>
              </a:solidFill>
              <a:latin typeface="Georgia" panose="02040502050405020303" pitchFamily="18" charset="0"/>
            </a:rPr>
            <a:t>Mail</a:t>
          </a:r>
        </a:p>
      </dgm:t>
    </dgm:pt>
    <dgm:pt modelId="{4B274B25-437A-4513-9645-816DA9CB1F67}" type="parTrans" cxnId="{66BB825B-59EE-407B-BFA4-6AFC4A6A2D81}">
      <dgm:prSet/>
      <dgm:spPr/>
      <dgm:t>
        <a:bodyPr/>
        <a:lstStyle/>
        <a:p>
          <a:endParaRPr lang="en-US"/>
        </a:p>
      </dgm:t>
    </dgm:pt>
    <dgm:pt modelId="{61083AA7-DC4B-4E6F-9DF2-F47BD704D138}" type="sibTrans" cxnId="{66BB825B-59EE-407B-BFA4-6AFC4A6A2D81}">
      <dgm:prSet/>
      <dgm:spPr/>
      <dgm:t>
        <a:bodyPr/>
        <a:lstStyle/>
        <a:p>
          <a:endParaRPr lang="en-US"/>
        </a:p>
      </dgm:t>
    </dgm:pt>
    <dgm:pt modelId="{B7B1A908-C67B-4DC2-8529-5731C10D151C}" type="pres">
      <dgm:prSet presAssocID="{33A83332-9A30-4071-BE1C-A7FBCEB4D4E0}" presName="Name0" presStyleCnt="0">
        <dgm:presLayoutVars>
          <dgm:dir/>
          <dgm:resizeHandles val="exact"/>
        </dgm:presLayoutVars>
      </dgm:prSet>
      <dgm:spPr/>
    </dgm:pt>
    <dgm:pt modelId="{60129282-9AE4-41EC-B51C-76E7F494A27D}" type="pres">
      <dgm:prSet presAssocID="{45EF5708-3809-4D88-ACC6-0E90C3125281}" presName="node" presStyleLbl="node1" presStyleIdx="0" presStyleCnt="5">
        <dgm:presLayoutVars>
          <dgm:bulletEnabled val="1"/>
        </dgm:presLayoutVars>
      </dgm:prSet>
      <dgm:spPr/>
    </dgm:pt>
    <dgm:pt modelId="{6AA4B555-5DF9-4126-AF9B-E6AE165ABBD8}" type="pres">
      <dgm:prSet presAssocID="{572A8809-7E4A-4B85-8189-8C05829C7DFA}" presName="sibTrans" presStyleLbl="sibTrans2D1" presStyleIdx="0" presStyleCnt="4"/>
      <dgm:spPr/>
    </dgm:pt>
    <dgm:pt modelId="{DF27472E-30AC-4F2F-93DA-DF01559670E1}" type="pres">
      <dgm:prSet presAssocID="{572A8809-7E4A-4B85-8189-8C05829C7DFA}" presName="connectorText" presStyleLbl="sibTrans2D1" presStyleIdx="0" presStyleCnt="4"/>
      <dgm:spPr/>
    </dgm:pt>
    <dgm:pt modelId="{92DD36A4-161E-475D-8FF9-48F908426D49}" type="pres">
      <dgm:prSet presAssocID="{98673D03-28E8-42CC-A18E-72A793C18432}" presName="node" presStyleLbl="node1" presStyleIdx="1" presStyleCnt="5">
        <dgm:presLayoutVars>
          <dgm:bulletEnabled val="1"/>
        </dgm:presLayoutVars>
      </dgm:prSet>
      <dgm:spPr/>
    </dgm:pt>
    <dgm:pt modelId="{A3E49BC4-604F-46EE-BE17-4BDF488B615E}" type="pres">
      <dgm:prSet presAssocID="{B21F7C90-ABFB-4BF8-B07C-A83C52E18656}" presName="sibTrans" presStyleLbl="sibTrans2D1" presStyleIdx="1" presStyleCnt="4"/>
      <dgm:spPr/>
    </dgm:pt>
    <dgm:pt modelId="{6678CF85-B0AA-40F1-AC37-38F34F920505}" type="pres">
      <dgm:prSet presAssocID="{B21F7C90-ABFB-4BF8-B07C-A83C52E18656}" presName="connectorText" presStyleLbl="sibTrans2D1" presStyleIdx="1" presStyleCnt="4"/>
      <dgm:spPr/>
    </dgm:pt>
    <dgm:pt modelId="{C5FB80FA-F1D5-4A1A-A984-4CAC576CE65D}" type="pres">
      <dgm:prSet presAssocID="{603CAB10-05F7-4AEA-80B4-9ABF82146BB3}" presName="node" presStyleLbl="node1" presStyleIdx="2" presStyleCnt="5">
        <dgm:presLayoutVars>
          <dgm:bulletEnabled val="1"/>
        </dgm:presLayoutVars>
      </dgm:prSet>
      <dgm:spPr/>
    </dgm:pt>
    <dgm:pt modelId="{52AE0F50-975B-4B19-A679-4C52E8037D85}" type="pres">
      <dgm:prSet presAssocID="{D71C1632-E245-4EF7-BBF9-09BD43664E59}" presName="sibTrans" presStyleLbl="sibTrans2D1" presStyleIdx="2" presStyleCnt="4"/>
      <dgm:spPr/>
    </dgm:pt>
    <dgm:pt modelId="{1293D565-6A6E-4ED7-9303-D36EC8985223}" type="pres">
      <dgm:prSet presAssocID="{D71C1632-E245-4EF7-BBF9-09BD43664E59}" presName="connectorText" presStyleLbl="sibTrans2D1" presStyleIdx="2" presStyleCnt="4"/>
      <dgm:spPr/>
    </dgm:pt>
    <dgm:pt modelId="{69B713F2-12D3-4D53-A21E-BB8869C5FD1F}" type="pres">
      <dgm:prSet presAssocID="{EB9B6E08-BAF9-4025-874B-DA2D81A6E981}" presName="node" presStyleLbl="node1" presStyleIdx="3" presStyleCnt="5">
        <dgm:presLayoutVars>
          <dgm:bulletEnabled val="1"/>
        </dgm:presLayoutVars>
      </dgm:prSet>
      <dgm:spPr/>
    </dgm:pt>
    <dgm:pt modelId="{D4FF1473-B2E5-4814-BA46-1FD0D9F44A98}" type="pres">
      <dgm:prSet presAssocID="{091B95CE-16FC-4715-A2DD-1B8DAC74362F}" presName="sibTrans" presStyleLbl="sibTrans2D1" presStyleIdx="3" presStyleCnt="4"/>
      <dgm:spPr/>
    </dgm:pt>
    <dgm:pt modelId="{68677F27-EACF-4B95-9365-9890B3489A57}" type="pres">
      <dgm:prSet presAssocID="{091B95CE-16FC-4715-A2DD-1B8DAC74362F}" presName="connectorText" presStyleLbl="sibTrans2D1" presStyleIdx="3" presStyleCnt="4"/>
      <dgm:spPr/>
    </dgm:pt>
    <dgm:pt modelId="{AA4002F3-1129-4809-8CCB-CBE5C9D1C190}" type="pres">
      <dgm:prSet presAssocID="{E36712FA-B8B3-4103-BB0E-300AEABEBDFF}" presName="node" presStyleLbl="node1" presStyleIdx="4" presStyleCnt="5">
        <dgm:presLayoutVars>
          <dgm:bulletEnabled val="1"/>
        </dgm:presLayoutVars>
      </dgm:prSet>
      <dgm:spPr/>
    </dgm:pt>
  </dgm:ptLst>
  <dgm:cxnLst>
    <dgm:cxn modelId="{63081035-380A-456A-BFD8-7FD8E04B1E18}" type="presOf" srcId="{E36712FA-B8B3-4103-BB0E-300AEABEBDFF}" destId="{AA4002F3-1129-4809-8CCB-CBE5C9D1C190}" srcOrd="0" destOrd="0" presId="urn:microsoft.com/office/officeart/2005/8/layout/process1"/>
    <dgm:cxn modelId="{14C2CE3C-526E-4D25-8471-D5B549ECB3FE}" type="presOf" srcId="{D71C1632-E245-4EF7-BBF9-09BD43664E59}" destId="{1293D565-6A6E-4ED7-9303-D36EC8985223}" srcOrd="1" destOrd="0" presId="urn:microsoft.com/office/officeart/2005/8/layout/process1"/>
    <dgm:cxn modelId="{66BB825B-59EE-407B-BFA4-6AFC4A6A2D81}" srcId="{33A83332-9A30-4071-BE1C-A7FBCEB4D4E0}" destId="{E36712FA-B8B3-4103-BB0E-300AEABEBDFF}" srcOrd="4" destOrd="0" parTransId="{4B274B25-437A-4513-9645-816DA9CB1F67}" sibTransId="{61083AA7-DC4B-4E6F-9DF2-F47BD704D138}"/>
    <dgm:cxn modelId="{354F8C5D-AA8D-45C0-984E-C51031418548}" type="presOf" srcId="{98673D03-28E8-42CC-A18E-72A793C18432}" destId="{92DD36A4-161E-475D-8FF9-48F908426D49}" srcOrd="0" destOrd="0" presId="urn:microsoft.com/office/officeart/2005/8/layout/process1"/>
    <dgm:cxn modelId="{4FB02B46-7749-4224-80E8-1AE98D0A3307}" srcId="{33A83332-9A30-4071-BE1C-A7FBCEB4D4E0}" destId="{98673D03-28E8-42CC-A18E-72A793C18432}" srcOrd="1" destOrd="0" parTransId="{E4B6B9C6-3020-4049-BF8A-5C71FB0D48ED}" sibTransId="{B21F7C90-ABFB-4BF8-B07C-A83C52E18656}"/>
    <dgm:cxn modelId="{07599C4E-FBC5-45CB-891E-97AB69E6F54F}" type="presOf" srcId="{B21F7C90-ABFB-4BF8-B07C-A83C52E18656}" destId="{A3E49BC4-604F-46EE-BE17-4BDF488B615E}" srcOrd="0" destOrd="0" presId="urn:microsoft.com/office/officeart/2005/8/layout/process1"/>
    <dgm:cxn modelId="{63868D7A-C5D5-457D-BAFD-EB437338041A}" type="presOf" srcId="{EB9B6E08-BAF9-4025-874B-DA2D81A6E981}" destId="{69B713F2-12D3-4D53-A21E-BB8869C5FD1F}" srcOrd="0" destOrd="0" presId="urn:microsoft.com/office/officeart/2005/8/layout/process1"/>
    <dgm:cxn modelId="{663BC97F-8137-43E2-A26C-51EE3CE8CD56}" type="presOf" srcId="{572A8809-7E4A-4B85-8189-8C05829C7DFA}" destId="{6AA4B555-5DF9-4126-AF9B-E6AE165ABBD8}" srcOrd="0" destOrd="0" presId="urn:microsoft.com/office/officeart/2005/8/layout/process1"/>
    <dgm:cxn modelId="{CC020883-F944-43CB-BF7A-CC7ADA5CC16F}" type="presOf" srcId="{091B95CE-16FC-4715-A2DD-1B8DAC74362F}" destId="{D4FF1473-B2E5-4814-BA46-1FD0D9F44A98}" srcOrd="0" destOrd="0" presId="urn:microsoft.com/office/officeart/2005/8/layout/process1"/>
    <dgm:cxn modelId="{C124B487-63D3-4D3C-B557-3BBDF95B096F}" type="presOf" srcId="{33A83332-9A30-4071-BE1C-A7FBCEB4D4E0}" destId="{B7B1A908-C67B-4DC2-8529-5731C10D151C}" srcOrd="0" destOrd="0" presId="urn:microsoft.com/office/officeart/2005/8/layout/process1"/>
    <dgm:cxn modelId="{E52E5199-93B5-42B3-9ACD-EC4D695B617D}" type="presOf" srcId="{D71C1632-E245-4EF7-BBF9-09BD43664E59}" destId="{52AE0F50-975B-4B19-A679-4C52E8037D85}" srcOrd="0" destOrd="0" presId="urn:microsoft.com/office/officeart/2005/8/layout/process1"/>
    <dgm:cxn modelId="{1A9424AE-91C8-458F-8A2F-41E1AEF04A85}" type="presOf" srcId="{45EF5708-3809-4D88-ACC6-0E90C3125281}" destId="{60129282-9AE4-41EC-B51C-76E7F494A27D}" srcOrd="0" destOrd="0" presId="urn:microsoft.com/office/officeart/2005/8/layout/process1"/>
    <dgm:cxn modelId="{33FFD2C3-4377-4D96-AB22-2872E21253A7}" srcId="{33A83332-9A30-4071-BE1C-A7FBCEB4D4E0}" destId="{EB9B6E08-BAF9-4025-874B-DA2D81A6E981}" srcOrd="3" destOrd="0" parTransId="{2870786E-52BB-44C5-8B84-7B8455858AB6}" sibTransId="{091B95CE-16FC-4715-A2DD-1B8DAC74362F}"/>
    <dgm:cxn modelId="{3EC77CD3-FE77-4212-8EE0-77F3F4DDD8E5}" type="presOf" srcId="{B21F7C90-ABFB-4BF8-B07C-A83C52E18656}" destId="{6678CF85-B0AA-40F1-AC37-38F34F920505}" srcOrd="1" destOrd="0" presId="urn:microsoft.com/office/officeart/2005/8/layout/process1"/>
    <dgm:cxn modelId="{08300AE5-A369-4D91-9AF7-8DDC2B5726BC}" type="presOf" srcId="{603CAB10-05F7-4AEA-80B4-9ABF82146BB3}" destId="{C5FB80FA-F1D5-4A1A-A984-4CAC576CE65D}" srcOrd="0" destOrd="0" presId="urn:microsoft.com/office/officeart/2005/8/layout/process1"/>
    <dgm:cxn modelId="{936AD9EC-8064-40F2-9E37-51D4CACE633E}" srcId="{33A83332-9A30-4071-BE1C-A7FBCEB4D4E0}" destId="{45EF5708-3809-4D88-ACC6-0E90C3125281}" srcOrd="0" destOrd="0" parTransId="{0531C24F-673A-4D99-8D76-47B611C327B3}" sibTransId="{572A8809-7E4A-4B85-8189-8C05829C7DFA}"/>
    <dgm:cxn modelId="{1DF295EE-3EE4-4DD8-B329-CA32C31F668E}" srcId="{33A83332-9A30-4071-BE1C-A7FBCEB4D4E0}" destId="{603CAB10-05F7-4AEA-80B4-9ABF82146BB3}" srcOrd="2" destOrd="0" parTransId="{0FE78898-9421-4028-ABC1-EDB3D1EB0269}" sibTransId="{D71C1632-E245-4EF7-BBF9-09BD43664E59}"/>
    <dgm:cxn modelId="{2A5C15F2-B953-4059-9FB5-59D8C4425434}" type="presOf" srcId="{572A8809-7E4A-4B85-8189-8C05829C7DFA}" destId="{DF27472E-30AC-4F2F-93DA-DF01559670E1}" srcOrd="1" destOrd="0" presId="urn:microsoft.com/office/officeart/2005/8/layout/process1"/>
    <dgm:cxn modelId="{1E8AD0F9-E040-4A4E-BA21-93E7A0CCCED8}" type="presOf" srcId="{091B95CE-16FC-4715-A2DD-1B8DAC74362F}" destId="{68677F27-EACF-4B95-9365-9890B3489A57}" srcOrd="1" destOrd="0" presId="urn:microsoft.com/office/officeart/2005/8/layout/process1"/>
    <dgm:cxn modelId="{C475863B-01E7-4FD5-BB5A-5A7BB26AC92C}" type="presParOf" srcId="{B7B1A908-C67B-4DC2-8529-5731C10D151C}" destId="{60129282-9AE4-41EC-B51C-76E7F494A27D}" srcOrd="0" destOrd="0" presId="urn:microsoft.com/office/officeart/2005/8/layout/process1"/>
    <dgm:cxn modelId="{EB2C93B1-F007-4F84-8DA0-037BD2803FCF}" type="presParOf" srcId="{B7B1A908-C67B-4DC2-8529-5731C10D151C}" destId="{6AA4B555-5DF9-4126-AF9B-E6AE165ABBD8}" srcOrd="1" destOrd="0" presId="urn:microsoft.com/office/officeart/2005/8/layout/process1"/>
    <dgm:cxn modelId="{A4F16ED5-4220-419A-B0EB-DC52FD7F34F1}" type="presParOf" srcId="{6AA4B555-5DF9-4126-AF9B-E6AE165ABBD8}" destId="{DF27472E-30AC-4F2F-93DA-DF01559670E1}" srcOrd="0" destOrd="0" presId="urn:microsoft.com/office/officeart/2005/8/layout/process1"/>
    <dgm:cxn modelId="{59343223-CC65-4C9A-8074-3E1FFD6FB5CE}" type="presParOf" srcId="{B7B1A908-C67B-4DC2-8529-5731C10D151C}" destId="{92DD36A4-161E-475D-8FF9-48F908426D49}" srcOrd="2" destOrd="0" presId="urn:microsoft.com/office/officeart/2005/8/layout/process1"/>
    <dgm:cxn modelId="{9E51429C-12FD-44FA-B164-F5CDEB37F419}" type="presParOf" srcId="{B7B1A908-C67B-4DC2-8529-5731C10D151C}" destId="{A3E49BC4-604F-46EE-BE17-4BDF488B615E}" srcOrd="3" destOrd="0" presId="urn:microsoft.com/office/officeart/2005/8/layout/process1"/>
    <dgm:cxn modelId="{52447749-071D-4EF2-A660-CB4BF0C3C2B7}" type="presParOf" srcId="{A3E49BC4-604F-46EE-BE17-4BDF488B615E}" destId="{6678CF85-B0AA-40F1-AC37-38F34F920505}" srcOrd="0" destOrd="0" presId="urn:microsoft.com/office/officeart/2005/8/layout/process1"/>
    <dgm:cxn modelId="{0DC596E7-EF58-4060-8B0D-23E07822145A}" type="presParOf" srcId="{B7B1A908-C67B-4DC2-8529-5731C10D151C}" destId="{C5FB80FA-F1D5-4A1A-A984-4CAC576CE65D}" srcOrd="4" destOrd="0" presId="urn:microsoft.com/office/officeart/2005/8/layout/process1"/>
    <dgm:cxn modelId="{0B2E73B6-8B03-4494-A61B-2C58982549C4}" type="presParOf" srcId="{B7B1A908-C67B-4DC2-8529-5731C10D151C}" destId="{52AE0F50-975B-4B19-A679-4C52E8037D85}" srcOrd="5" destOrd="0" presId="urn:microsoft.com/office/officeart/2005/8/layout/process1"/>
    <dgm:cxn modelId="{0797806B-89D8-423B-80FA-195BF00C67A2}" type="presParOf" srcId="{52AE0F50-975B-4B19-A679-4C52E8037D85}" destId="{1293D565-6A6E-4ED7-9303-D36EC8985223}" srcOrd="0" destOrd="0" presId="urn:microsoft.com/office/officeart/2005/8/layout/process1"/>
    <dgm:cxn modelId="{D7E6B1AA-155F-4954-9962-E3D877B421F2}" type="presParOf" srcId="{B7B1A908-C67B-4DC2-8529-5731C10D151C}" destId="{69B713F2-12D3-4D53-A21E-BB8869C5FD1F}" srcOrd="6" destOrd="0" presId="urn:microsoft.com/office/officeart/2005/8/layout/process1"/>
    <dgm:cxn modelId="{17E68C69-73E7-4920-8450-65381FB56990}" type="presParOf" srcId="{B7B1A908-C67B-4DC2-8529-5731C10D151C}" destId="{D4FF1473-B2E5-4814-BA46-1FD0D9F44A98}" srcOrd="7" destOrd="0" presId="urn:microsoft.com/office/officeart/2005/8/layout/process1"/>
    <dgm:cxn modelId="{1217BE8A-C09A-4544-98F0-A0D82E5AFB1E}" type="presParOf" srcId="{D4FF1473-B2E5-4814-BA46-1FD0D9F44A98}" destId="{68677F27-EACF-4B95-9365-9890B3489A57}" srcOrd="0" destOrd="0" presId="urn:microsoft.com/office/officeart/2005/8/layout/process1"/>
    <dgm:cxn modelId="{4ED28BF0-FBE6-4E9C-B1DF-EC8164184D7E}" type="presParOf" srcId="{B7B1A908-C67B-4DC2-8529-5731C10D151C}" destId="{AA4002F3-1129-4809-8CCB-CBE5C9D1C190}" srcOrd="8" destOrd="0" presId="urn:microsoft.com/office/officeart/2005/8/layout/process1"/>
  </dgm:cxnLst>
  <dgm:bg/>
  <dgm:whole>
    <a:ln>
      <a:solidFill>
        <a:srgbClr val="0070C0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29282-9AE4-41EC-B51C-76E7F494A27D}">
      <dsp:nvSpPr>
        <dsp:cNvPr id="0" name=""/>
        <dsp:cNvSpPr/>
      </dsp:nvSpPr>
      <dsp:spPr>
        <a:xfrm>
          <a:off x="5689" y="0"/>
          <a:ext cx="1763896" cy="1029524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Georgia" panose="02040502050405020303" pitchFamily="18" charset="0"/>
            </a:rPr>
            <a:t>Artifact Build</a:t>
          </a:r>
        </a:p>
      </dsp:txBody>
      <dsp:txXfrm>
        <a:off x="35843" y="30154"/>
        <a:ext cx="1703588" cy="969216"/>
      </dsp:txXfrm>
    </dsp:sp>
    <dsp:sp modelId="{6AA4B555-5DF9-4126-AF9B-E6AE165ABBD8}">
      <dsp:nvSpPr>
        <dsp:cNvPr id="0" name=""/>
        <dsp:cNvSpPr/>
      </dsp:nvSpPr>
      <dsp:spPr>
        <a:xfrm>
          <a:off x="1945975" y="296038"/>
          <a:ext cx="373945" cy="437446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rgbClr val="00206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1945975" y="383527"/>
        <a:ext cx="261762" cy="262468"/>
      </dsp:txXfrm>
    </dsp:sp>
    <dsp:sp modelId="{92DD36A4-161E-475D-8FF9-48F908426D49}">
      <dsp:nvSpPr>
        <dsp:cNvPr id="0" name=""/>
        <dsp:cNvSpPr/>
      </dsp:nvSpPr>
      <dsp:spPr>
        <a:xfrm>
          <a:off x="2475144" y="0"/>
          <a:ext cx="1763896" cy="1029524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Georgia" panose="02040502050405020303" pitchFamily="18" charset="0"/>
            </a:rPr>
            <a:t>Docker Image Build</a:t>
          </a:r>
        </a:p>
      </dsp:txBody>
      <dsp:txXfrm>
        <a:off x="2505298" y="30154"/>
        <a:ext cx="1703588" cy="969216"/>
      </dsp:txXfrm>
    </dsp:sp>
    <dsp:sp modelId="{A3E49BC4-604F-46EE-BE17-4BDF488B615E}">
      <dsp:nvSpPr>
        <dsp:cNvPr id="0" name=""/>
        <dsp:cNvSpPr/>
      </dsp:nvSpPr>
      <dsp:spPr>
        <a:xfrm>
          <a:off x="4415430" y="296038"/>
          <a:ext cx="373945" cy="437446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rgbClr val="00206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415430" y="383527"/>
        <a:ext cx="261762" cy="262468"/>
      </dsp:txXfrm>
    </dsp:sp>
    <dsp:sp modelId="{C5FB80FA-F1D5-4A1A-A984-4CAC576CE65D}">
      <dsp:nvSpPr>
        <dsp:cNvPr id="0" name=""/>
        <dsp:cNvSpPr/>
      </dsp:nvSpPr>
      <dsp:spPr>
        <a:xfrm>
          <a:off x="4944599" y="0"/>
          <a:ext cx="1763896" cy="1029524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Georgia" panose="02040502050405020303" pitchFamily="18" charset="0"/>
            </a:rPr>
            <a:t>Elastic Container Registry</a:t>
          </a:r>
        </a:p>
      </dsp:txBody>
      <dsp:txXfrm>
        <a:off x="4974753" y="30154"/>
        <a:ext cx="1703588" cy="969216"/>
      </dsp:txXfrm>
    </dsp:sp>
    <dsp:sp modelId="{52AE0F50-975B-4B19-A679-4C52E8037D85}">
      <dsp:nvSpPr>
        <dsp:cNvPr id="0" name=""/>
        <dsp:cNvSpPr/>
      </dsp:nvSpPr>
      <dsp:spPr>
        <a:xfrm>
          <a:off x="6884885" y="296038"/>
          <a:ext cx="373945" cy="437446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rgbClr val="00206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884885" y="383527"/>
        <a:ext cx="261762" cy="262468"/>
      </dsp:txXfrm>
    </dsp:sp>
    <dsp:sp modelId="{69B713F2-12D3-4D53-A21E-BB8869C5FD1F}">
      <dsp:nvSpPr>
        <dsp:cNvPr id="0" name=""/>
        <dsp:cNvSpPr/>
      </dsp:nvSpPr>
      <dsp:spPr>
        <a:xfrm>
          <a:off x="7414054" y="0"/>
          <a:ext cx="1763896" cy="1029524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Georgia" panose="02040502050405020303" pitchFamily="18" charset="0"/>
            </a:rPr>
            <a:t>Deploying in Kubernetes</a:t>
          </a:r>
        </a:p>
      </dsp:txBody>
      <dsp:txXfrm>
        <a:off x="7444208" y="30154"/>
        <a:ext cx="1703588" cy="969216"/>
      </dsp:txXfrm>
    </dsp:sp>
    <dsp:sp modelId="{D4FF1473-B2E5-4814-BA46-1FD0D9F44A98}">
      <dsp:nvSpPr>
        <dsp:cNvPr id="0" name=""/>
        <dsp:cNvSpPr/>
      </dsp:nvSpPr>
      <dsp:spPr>
        <a:xfrm>
          <a:off x="9354339" y="296038"/>
          <a:ext cx="373945" cy="437446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rgbClr val="00206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9354339" y="383527"/>
        <a:ext cx="261762" cy="262468"/>
      </dsp:txXfrm>
    </dsp:sp>
    <dsp:sp modelId="{AA4002F3-1129-4809-8CCB-CBE5C9D1C190}">
      <dsp:nvSpPr>
        <dsp:cNvPr id="0" name=""/>
        <dsp:cNvSpPr/>
      </dsp:nvSpPr>
      <dsp:spPr>
        <a:xfrm>
          <a:off x="9883508" y="0"/>
          <a:ext cx="1763896" cy="1029524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Georgia" panose="02040502050405020303" pitchFamily="18" charset="0"/>
            </a:rPr>
            <a:t>Mail</a:t>
          </a:r>
        </a:p>
      </dsp:txBody>
      <dsp:txXfrm>
        <a:off x="9913662" y="30154"/>
        <a:ext cx="1703588" cy="9692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B6E77-2ACC-47CD-BF9B-2964112D97CB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81F53-2D3B-47E6-8014-69F130544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261E2F-E60D-4313-A67A-DFB98F851029}"/>
              </a:ext>
            </a:extLst>
          </p:cNvPr>
          <p:cNvSpPr/>
          <p:nvPr userDrawn="1"/>
        </p:nvSpPr>
        <p:spPr>
          <a:xfrm>
            <a:off x="3744677" y="191872"/>
            <a:ext cx="4151084" cy="391691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imSun" panose="02010600030101010101" pitchFamily="2" charset="-122"/>
                <a:ea typeface="SimSun" panose="02010600030101010101" pitchFamily="2" charset="-122"/>
              </a:rPr>
              <a:t>		</a:t>
            </a:r>
            <a:r>
              <a:rPr lang="en-US" sz="1800" dirty="0">
                <a:solidFill>
                  <a:schemeClr val="bg1"/>
                </a:solidFill>
                <a:latin typeface="Georgia" panose="02040502050405020303" pitchFamily="18" charset="0"/>
                <a:ea typeface="SimSun" panose="02010600030101010101" pitchFamily="2" charset="-122"/>
                <a:cs typeface="Calibri" panose="020F0502020204030204" pitchFamily="34" charset="0"/>
              </a:rPr>
              <a:t>Connecting Dots...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550B2-5A32-4917-82FE-4EBB9ED77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5AE25-83AA-4C02-B74A-A3DA3D29F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C40F26-6C9F-46B3-A185-1BF18972CC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39594" y="199964"/>
            <a:ext cx="1980923" cy="38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80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E203C-A98D-4971-BD42-C548E8A1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2B273-9EC9-4ED4-AE80-A63E0247F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1E794-EF82-43CC-891D-002DEB20D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97835-C0A8-4C59-B5EB-3187EF85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EDD58-F21F-4458-B492-E3D1DA2B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3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9002-E066-4775-8C7C-A477BF8E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17AB9-F630-43B7-9064-50BC068EC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55E52-A9E5-4169-9BBE-37DC636D3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CD2FF-BBCE-4830-BD50-717F1F3B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BC3EE-775B-4341-9578-61C9EE8B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89E5-4DDA-48EF-9534-A7A54511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FEDB6-5B4B-446B-8E14-DED842B1B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1480E-9493-49BC-97DD-53EF49C1A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ACB1F-7C24-45A5-B89E-8D3AF375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C8DFE-04C3-4277-B422-78BDBBC4C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E8D44-5106-484B-B887-89291FDE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5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E4EC-974B-42C6-B65E-71BBFC1EE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20D44-AA0D-4E88-A5F1-28E88CF84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6A7C6-E5B6-4573-8488-4FE0D9830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EFE6E8-6ED2-43FA-92DC-34A85C3A4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DFE932-91E1-445D-BA7D-D36149F83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9C3255-3183-4003-8366-17692B461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2D738-C20E-4E36-8698-1122DB35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094378-FC55-480A-A980-E7B4A000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5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18AF-D71A-4F53-BF92-736DCD61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22EB5-E830-41B6-A3BC-13EE18E1C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576D2-CEB4-493D-A09D-53452B44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CA92A-033B-4656-9A71-ABCABDAB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5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A9BB3-3A8D-4FDC-806B-A440C9A99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3968F-476C-4B70-9446-B057B13D6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AB07C-5E67-4764-9719-0BD432C3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8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19BD3-0B1C-4C22-B9B6-587FBD612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B9AAB-FEF1-450F-84B1-B86330AA0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A1726-3CE0-43F9-984D-D50A2C385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13D9E-FAC3-44B1-93B1-608B1BF4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62D6C-A2BB-4DBD-8557-E1D90923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24FB8-7607-489E-884A-62C8CD75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00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9A9D-3B74-40DA-8CE0-E66FB7F1C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C16F0-65BA-447D-8FA7-3551FD19D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EFEA0-D089-4C96-8B2E-947A2768C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6C703-0F74-4FE1-ABD9-7C2339EE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8E214-C005-4DD1-9B6C-3D40318F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F76C0-E51D-4EDA-8D70-1530BB12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7C56F-7E3C-4723-9D74-9239CF19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EFD47-C277-4E3E-AC29-202B317E7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63198-61BF-4A8F-89D4-070EFCE6C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FD3E3-A4CA-43BB-9A57-E0E09EA37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566DF-BCDC-420F-A78A-90D6035D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6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5D307-3749-4112-8DB7-B542EA5B9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7D42D-D869-450D-BD8D-5936CC4CF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2EE91-7F91-468B-838F-43654A39B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C1220-7E32-4D10-B731-123DD0E3A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3DFC4-B106-44AC-960B-1C9BC55A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2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6AB9D-6BFE-407E-B384-F3843335D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CE008-3812-4312-A9A3-C4F70F658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3E9BB-3ABE-420C-99CB-E5C2CF639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8949B-D305-4C6E-B378-BB62E27CEE6D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B972B-ACB3-4382-AD23-35B4C81F9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4D1BF-3EDE-4231-B4DD-FC0EF3628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B19BE-4288-4151-AA25-48182054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5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A5D1-3540-4AB7-84AE-FD7DEA32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314" y="3164114"/>
            <a:ext cx="11553371" cy="986971"/>
          </a:xfrm>
          <a:ln>
            <a:solidFill>
              <a:srgbClr val="0070C0"/>
            </a:solidFill>
          </a:ln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National Single Window System</a:t>
            </a:r>
          </a:p>
        </p:txBody>
      </p:sp>
    </p:spTree>
    <p:extLst>
      <p:ext uri="{BB962C8B-B14F-4D97-AF65-F5344CB8AC3E}">
        <p14:creationId xmlns:p14="http://schemas.microsoft.com/office/powerpoint/2010/main" val="278198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58F990-8B43-4AB8-9369-724AAEB39F87}"/>
              </a:ext>
            </a:extLst>
          </p:cNvPr>
          <p:cNvSpPr/>
          <p:nvPr/>
        </p:nvSpPr>
        <p:spPr>
          <a:xfrm>
            <a:off x="87086" y="1233716"/>
            <a:ext cx="11916229" cy="551542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0A5D1-3540-4AB7-84AE-FD7DEA32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6" y="803049"/>
            <a:ext cx="11698515" cy="532265"/>
          </a:xfrm>
          <a:solidFill>
            <a:srgbClr val="002060"/>
          </a:solidFill>
          <a:ln w="952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Deployment Architecture </a:t>
            </a:r>
          </a:p>
        </p:txBody>
      </p: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6B0798AC-8B51-457B-9B1F-DE445CABE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43" y="1515564"/>
            <a:ext cx="11088914" cy="495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4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2E767AD-D214-434D-8617-1E7C1F5B3B8C}"/>
              </a:ext>
            </a:extLst>
          </p:cNvPr>
          <p:cNvGrpSpPr/>
          <p:nvPr/>
        </p:nvGrpSpPr>
        <p:grpSpPr>
          <a:xfrm>
            <a:off x="89676" y="1210554"/>
            <a:ext cx="11916229" cy="5515427"/>
            <a:chOff x="75162" y="1210554"/>
            <a:chExt cx="11916229" cy="551542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358F990-8B43-4AB8-9369-724AAEB39F87}"/>
                </a:ext>
              </a:extLst>
            </p:cNvPr>
            <p:cNvSpPr/>
            <p:nvPr/>
          </p:nvSpPr>
          <p:spPr>
            <a:xfrm>
              <a:off x="75162" y="1210554"/>
              <a:ext cx="11916229" cy="5515427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F1D694-8912-47F2-9121-8FAC0D423DED}"/>
                </a:ext>
              </a:extLst>
            </p:cNvPr>
            <p:cNvGrpSpPr/>
            <p:nvPr/>
          </p:nvGrpSpPr>
          <p:grpSpPr>
            <a:xfrm>
              <a:off x="191421" y="1589648"/>
              <a:ext cx="9876730" cy="4940116"/>
              <a:chOff x="191421" y="1589648"/>
              <a:chExt cx="9876730" cy="494011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1AF4ED83-6487-4E4E-9866-06272DF42C31}"/>
                  </a:ext>
                </a:extLst>
              </p:cNvPr>
              <p:cNvGrpSpPr/>
              <p:nvPr/>
            </p:nvGrpSpPr>
            <p:grpSpPr>
              <a:xfrm>
                <a:off x="191421" y="1589648"/>
                <a:ext cx="6530720" cy="4277409"/>
                <a:chOff x="238921" y="1301270"/>
                <a:chExt cx="6620780" cy="4718437"/>
              </a:xfrm>
              <a:solidFill>
                <a:schemeClr val="bg1"/>
              </a:solidFill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4DE02543-6D75-4C64-B010-9750A55B231F}"/>
                    </a:ext>
                  </a:extLst>
                </p:cNvPr>
                <p:cNvSpPr/>
                <p:nvPr/>
              </p:nvSpPr>
              <p:spPr>
                <a:xfrm>
                  <a:off x="238921" y="1301270"/>
                  <a:ext cx="4634295" cy="471843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C94D736A-E1DB-4CD9-B680-DF3FA4F7FE9F}"/>
                    </a:ext>
                  </a:extLst>
                </p:cNvPr>
                <p:cNvSpPr/>
                <p:nvPr/>
              </p:nvSpPr>
              <p:spPr>
                <a:xfrm>
                  <a:off x="3656470" y="2277488"/>
                  <a:ext cx="924446" cy="1730745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rPr>
                    <a:t>API Gateway </a:t>
                  </a: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C6DCF7C4-C00C-460B-9ABB-A4DF8805DDC5}"/>
                    </a:ext>
                  </a:extLst>
                </p:cNvPr>
                <p:cNvCxnSpPr/>
                <p:nvPr/>
              </p:nvCxnSpPr>
              <p:spPr>
                <a:xfrm flipH="1">
                  <a:off x="3424517" y="3189358"/>
                  <a:ext cx="231953" cy="0"/>
                </a:xfrm>
                <a:prstGeom prst="straightConnector1">
                  <a:avLst/>
                </a:prstGeom>
                <a:grpFill/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E3369255-319A-426B-8D0A-D35EAFCAD921}"/>
                    </a:ext>
                  </a:extLst>
                </p:cNvPr>
                <p:cNvGrpSpPr/>
                <p:nvPr/>
              </p:nvGrpSpPr>
              <p:grpSpPr>
                <a:xfrm>
                  <a:off x="4866732" y="1537142"/>
                  <a:ext cx="1992969" cy="3473984"/>
                  <a:chOff x="5372093" y="1387467"/>
                  <a:chExt cx="1992969" cy="3473984"/>
                </a:xfrm>
                <a:grpFill/>
              </p:grpSpPr>
              <p:sp>
                <p:nvSpPr>
                  <p:cNvPr id="65" name="Rectangle: Rounded Corners 64">
                    <a:extLst>
                      <a:ext uri="{FF2B5EF4-FFF2-40B4-BE49-F238E27FC236}">
                        <a16:creationId xmlns:a16="http://schemas.microsoft.com/office/drawing/2014/main" id="{091C4AFC-8419-4344-8322-3BC44465C391}"/>
                      </a:ext>
                    </a:extLst>
                  </p:cNvPr>
                  <p:cNvSpPr/>
                  <p:nvPr/>
                </p:nvSpPr>
                <p:spPr>
                  <a:xfrm>
                    <a:off x="5835208" y="1387467"/>
                    <a:ext cx="1189635" cy="3473984"/>
                  </a:xfrm>
                  <a:prstGeom prst="roundRect">
                    <a:avLst/>
                  </a:prstGeom>
                  <a:grpFill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</p:txBody>
              </p:sp>
              <p:cxnSp>
                <p:nvCxnSpPr>
                  <p:cNvPr id="66" name="Straight Arrow Connector 65">
                    <a:extLst>
                      <a:ext uri="{FF2B5EF4-FFF2-40B4-BE49-F238E27FC236}">
                        <a16:creationId xmlns:a16="http://schemas.microsoft.com/office/drawing/2014/main" id="{02180910-8405-4746-B800-ECF5A94A12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383124" y="1939888"/>
                    <a:ext cx="1972545" cy="2082"/>
                  </a:xfrm>
                  <a:prstGeom prst="straightConnector1">
                    <a:avLst/>
                  </a:prstGeom>
                  <a:grpFill/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2C7B8037-222E-46A1-A6FF-59D64ACF6F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78994" y="2526559"/>
                    <a:ext cx="1986068" cy="0"/>
                  </a:xfrm>
                  <a:prstGeom prst="straightConnector1">
                    <a:avLst/>
                  </a:prstGeom>
                  <a:grpFill/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9FA4180E-3005-45E7-BC67-3B30C7DA44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382239" y="3106706"/>
                    <a:ext cx="1942494" cy="10052"/>
                  </a:xfrm>
                  <a:prstGeom prst="straightConnector1">
                    <a:avLst/>
                  </a:prstGeom>
                  <a:grpFill/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Arrow Connector 68">
                    <a:extLst>
                      <a:ext uri="{FF2B5EF4-FFF2-40B4-BE49-F238E27FC236}">
                        <a16:creationId xmlns:a16="http://schemas.microsoft.com/office/drawing/2014/main" id="{239B87D4-1735-424F-A113-9F8B9D95FC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376567" y="3673773"/>
                    <a:ext cx="1931813" cy="1624"/>
                  </a:xfrm>
                  <a:prstGeom prst="straightConnector1">
                    <a:avLst/>
                  </a:prstGeom>
                  <a:grpFill/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E3746F25-A62F-403B-8294-E15F95557338}"/>
                      </a:ext>
                    </a:extLst>
                  </p:cNvPr>
                  <p:cNvSpPr/>
                  <p:nvPr/>
                </p:nvSpPr>
                <p:spPr>
                  <a:xfrm>
                    <a:off x="5939678" y="1826725"/>
                    <a:ext cx="980828" cy="207506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Client 1</a:t>
                    </a:r>
                  </a:p>
                </p:txBody>
              </p:sp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06FE26F3-4F7B-433E-A37E-9515861E1C0F}"/>
                      </a:ext>
                    </a:extLst>
                  </p:cNvPr>
                  <p:cNvSpPr/>
                  <p:nvPr/>
                </p:nvSpPr>
                <p:spPr>
                  <a:xfrm>
                    <a:off x="5930998" y="2401245"/>
                    <a:ext cx="980828" cy="23010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Client 2</a:t>
                    </a: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852F72B9-6326-42AC-9E7D-C3C80A81E5D7}"/>
                      </a:ext>
                    </a:extLst>
                  </p:cNvPr>
                  <p:cNvSpPr/>
                  <p:nvPr/>
                </p:nvSpPr>
                <p:spPr>
                  <a:xfrm>
                    <a:off x="5946713" y="2981195"/>
                    <a:ext cx="941691" cy="256504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Client 3</a:t>
                    </a:r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C9BAAED8-90C9-4CA0-A861-BA1D61A17858}"/>
                      </a:ext>
                    </a:extLst>
                  </p:cNvPr>
                  <p:cNvSpPr/>
                  <p:nvPr/>
                </p:nvSpPr>
                <p:spPr>
                  <a:xfrm>
                    <a:off x="5939057" y="3536788"/>
                    <a:ext cx="941691" cy="238678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Client n</a:t>
                    </a:r>
                  </a:p>
                </p:txBody>
              </p:sp>
              <p:cxnSp>
                <p:nvCxnSpPr>
                  <p:cNvPr id="74" name="Straight Arrow Connector 73">
                    <a:extLst>
                      <a:ext uri="{FF2B5EF4-FFF2-40B4-BE49-F238E27FC236}">
                        <a16:creationId xmlns:a16="http://schemas.microsoft.com/office/drawing/2014/main" id="{B22843B6-5742-4C63-B29B-B5B68C12B5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72093" y="4250531"/>
                    <a:ext cx="1909004" cy="0"/>
                  </a:xfrm>
                  <a:prstGeom prst="straightConnector1">
                    <a:avLst/>
                  </a:prstGeom>
                  <a:grpFill/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F555B339-3107-4B00-BC62-49634BD1FC9A}"/>
                      </a:ext>
                    </a:extLst>
                  </p:cNvPr>
                  <p:cNvSpPr/>
                  <p:nvPr/>
                </p:nvSpPr>
                <p:spPr>
                  <a:xfrm>
                    <a:off x="5938978" y="4123744"/>
                    <a:ext cx="925725" cy="238677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Client x</a:t>
                    </a:r>
                  </a:p>
                </p:txBody>
              </p:sp>
            </p:grp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DEC7503-D8C9-4771-888B-354C6BD961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19009" y="1624807"/>
                  <a:ext cx="0" cy="2910303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836FF2F2-50CE-4B3B-96F0-8F2C8EFF8231}"/>
                    </a:ext>
                  </a:extLst>
                </p:cNvPr>
                <p:cNvCxnSpPr/>
                <p:nvPr/>
              </p:nvCxnSpPr>
              <p:spPr>
                <a:xfrm flipH="1">
                  <a:off x="3188517" y="1658272"/>
                  <a:ext cx="231953" cy="0"/>
                </a:xfrm>
                <a:prstGeom prst="straightConnector1">
                  <a:avLst/>
                </a:prstGeom>
                <a:grpFill/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8E2284FC-855E-46CD-8042-27782AA71814}"/>
                    </a:ext>
                  </a:extLst>
                </p:cNvPr>
                <p:cNvCxnSpPr/>
                <p:nvPr/>
              </p:nvCxnSpPr>
              <p:spPr>
                <a:xfrm flipH="1">
                  <a:off x="3188517" y="2232158"/>
                  <a:ext cx="231953" cy="0"/>
                </a:xfrm>
                <a:prstGeom prst="straightConnector1">
                  <a:avLst/>
                </a:prstGeom>
                <a:grpFill/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18554233-B410-4320-9B41-740D8579179B}"/>
                    </a:ext>
                  </a:extLst>
                </p:cNvPr>
                <p:cNvCxnSpPr/>
                <p:nvPr/>
              </p:nvCxnSpPr>
              <p:spPr>
                <a:xfrm flipH="1">
                  <a:off x="3170214" y="2698458"/>
                  <a:ext cx="231953" cy="0"/>
                </a:xfrm>
                <a:prstGeom prst="straightConnector1">
                  <a:avLst/>
                </a:prstGeom>
                <a:grpFill/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B4AEAC39-0761-4A17-B216-33880A1CB1D2}"/>
                    </a:ext>
                  </a:extLst>
                </p:cNvPr>
                <p:cNvCxnSpPr/>
                <p:nvPr/>
              </p:nvCxnSpPr>
              <p:spPr>
                <a:xfrm flipH="1">
                  <a:off x="3170214" y="3189358"/>
                  <a:ext cx="231953" cy="0"/>
                </a:xfrm>
                <a:prstGeom prst="straightConnector1">
                  <a:avLst/>
                </a:prstGeom>
                <a:grpFill/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502320B7-08B5-4125-B17F-57C83572FB7B}"/>
                    </a:ext>
                  </a:extLst>
                </p:cNvPr>
                <p:cNvCxnSpPr/>
                <p:nvPr/>
              </p:nvCxnSpPr>
              <p:spPr>
                <a:xfrm flipH="1">
                  <a:off x="3170214" y="3687043"/>
                  <a:ext cx="231953" cy="0"/>
                </a:xfrm>
                <a:prstGeom prst="straightConnector1">
                  <a:avLst/>
                </a:prstGeom>
                <a:grpFill/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B67B82EE-5A2E-4AE8-8DEE-F33582B16C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8517" y="4090906"/>
                  <a:ext cx="231952" cy="0"/>
                </a:xfrm>
                <a:prstGeom prst="straightConnector1">
                  <a:avLst/>
                </a:prstGeom>
                <a:grpFill/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47146A84-35EC-4351-AFEF-6EC5A1EF52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75679" y="4522011"/>
                  <a:ext cx="231952" cy="0"/>
                </a:xfrm>
                <a:prstGeom prst="straightConnector1">
                  <a:avLst/>
                </a:prstGeom>
                <a:grpFill/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5BADE1F8-09E6-4ABD-8F85-C2BB9FB4EC2E}"/>
                    </a:ext>
                  </a:extLst>
                </p:cNvPr>
                <p:cNvGrpSpPr/>
                <p:nvPr/>
              </p:nvGrpSpPr>
              <p:grpSpPr>
                <a:xfrm>
                  <a:off x="682956" y="1499689"/>
                  <a:ext cx="2427402" cy="3207661"/>
                  <a:chOff x="1266264" y="1471395"/>
                  <a:chExt cx="2427402" cy="3207661"/>
                </a:xfrm>
                <a:grpFill/>
              </p:grpSpPr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984DDF2B-FD60-406E-B037-EF260E94F776}"/>
                      </a:ext>
                    </a:extLst>
                  </p:cNvPr>
                  <p:cNvSpPr/>
                  <p:nvPr/>
                </p:nvSpPr>
                <p:spPr>
                  <a:xfrm>
                    <a:off x="1266264" y="1471395"/>
                    <a:ext cx="2409587" cy="333607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License Details  </a:t>
                    </a:r>
                  </a:p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B9332F3E-FD3B-4EC5-9BF4-B648757B609F}"/>
                      </a:ext>
                    </a:extLst>
                  </p:cNvPr>
                  <p:cNvSpPr/>
                  <p:nvPr/>
                </p:nvSpPr>
                <p:spPr>
                  <a:xfrm>
                    <a:off x="1284079" y="1970934"/>
                    <a:ext cx="2409587" cy="333607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License Status  </a:t>
                    </a:r>
                  </a:p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7EEE552B-0A0C-4B1F-9369-186C0C711AE0}"/>
                      </a:ext>
                    </a:extLst>
                  </p:cNvPr>
                  <p:cNvSpPr/>
                  <p:nvPr/>
                </p:nvSpPr>
                <p:spPr>
                  <a:xfrm>
                    <a:off x="1284077" y="2461517"/>
                    <a:ext cx="2409587" cy="333607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Raise Clarification </a:t>
                    </a:r>
                  </a:p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C45AE85E-280E-44B2-8080-560E3CF960F3}"/>
                      </a:ext>
                    </a:extLst>
                  </p:cNvPr>
                  <p:cNvSpPr/>
                  <p:nvPr/>
                </p:nvSpPr>
                <p:spPr>
                  <a:xfrm>
                    <a:off x="1270167" y="2970849"/>
                    <a:ext cx="2409587" cy="333607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Pull Clarification </a:t>
                    </a:r>
                  </a:p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704597AA-6B5E-4B91-B2A8-2AD3FA24CECC}"/>
                      </a:ext>
                    </a:extLst>
                  </p:cNvPr>
                  <p:cNvSpPr/>
                  <p:nvPr/>
                </p:nvSpPr>
                <p:spPr>
                  <a:xfrm>
                    <a:off x="1275452" y="3470498"/>
                    <a:ext cx="2409587" cy="333607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Payment </a:t>
                    </a:r>
                  </a:p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0FF58C29-9BB7-4202-8E24-EFE8BBAA328E}"/>
                      </a:ext>
                    </a:extLst>
                  </p:cNvPr>
                  <p:cNvSpPr/>
                  <p:nvPr/>
                </p:nvSpPr>
                <p:spPr>
                  <a:xfrm>
                    <a:off x="1270167" y="3901245"/>
                    <a:ext cx="2409587" cy="333607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Acknowledgment </a:t>
                    </a:r>
                  </a:p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1135646B-33D0-4BCD-BFF3-8DFF4873496A}"/>
                      </a:ext>
                    </a:extLst>
                  </p:cNvPr>
                  <p:cNvSpPr/>
                  <p:nvPr/>
                </p:nvSpPr>
                <p:spPr>
                  <a:xfrm>
                    <a:off x="1270167" y="4345449"/>
                    <a:ext cx="2409587" cy="333607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  <a:p>
                    <a:pPr algn="ctr"/>
                    <a:r>
                      <a:rPr lang="en-IN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Verdana" panose="020B0604030504040204" pitchFamily="34" charset="0"/>
                        <a:cs typeface="Calibri" panose="020F0502020204030204" pitchFamily="34" charset="0"/>
                      </a:rPr>
                      <a:t>Document APIs</a:t>
                    </a:r>
                  </a:p>
                  <a:p>
                    <a:pPr algn="ctr"/>
                    <a:endParaRPr lang="en-IN" sz="1400" dirty="0">
                      <a:solidFill>
                        <a:schemeClr val="tx1"/>
                      </a:solidFill>
                      <a:latin typeface="Georgia" panose="02040502050405020303" pitchFamily="18" charset="0"/>
                      <a:ea typeface="Verdana" panose="020B060403050404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B5C7070-64BF-4BF8-B847-13047038AA52}"/>
                  </a:ext>
                </a:extLst>
              </p:cNvPr>
              <p:cNvSpPr/>
              <p:nvPr/>
            </p:nvSpPr>
            <p:spPr>
              <a:xfrm>
                <a:off x="629417" y="4978062"/>
                <a:ext cx="2376809" cy="29028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solidFill>
                    <a:schemeClr val="tx1"/>
                  </a:solidFill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Ministry Specific Adapter  </a:t>
                </a:r>
              </a:p>
              <a:p>
                <a:pPr algn="ctr"/>
                <a:endParaRPr lang="en-IN" sz="1400" dirty="0">
                  <a:solidFill>
                    <a:schemeClr val="tx1"/>
                  </a:solidFill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1B429F9E-5C87-4D41-AD3C-BEA4CEEC9A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23797" y="5199066"/>
                <a:ext cx="361552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EA53AAD-3C7C-49E9-B3D6-A1210E979A3C}"/>
                  </a:ext>
                </a:extLst>
              </p:cNvPr>
              <p:cNvSpPr/>
              <p:nvPr/>
            </p:nvSpPr>
            <p:spPr>
              <a:xfrm>
                <a:off x="3780786" y="6089384"/>
                <a:ext cx="2041187" cy="3918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solidFill>
                    <a:schemeClr val="tx1"/>
                  </a:solidFill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SSO ( SAML)</a:t>
                </a:r>
              </a:p>
              <a:p>
                <a:pPr algn="ctr"/>
                <a:endParaRPr lang="en-IN" sz="1400" dirty="0">
                  <a:solidFill>
                    <a:schemeClr val="tx1"/>
                  </a:solidFill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65B0F8B4-D1D3-40CF-8F4B-E1BE6B877242}"/>
                  </a:ext>
                </a:extLst>
              </p:cNvPr>
              <p:cNvSpPr/>
              <p:nvPr/>
            </p:nvSpPr>
            <p:spPr>
              <a:xfrm>
                <a:off x="7644179" y="6108281"/>
                <a:ext cx="2423972" cy="37442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Department</a:t>
                </a:r>
                <a:r>
                  <a: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Portal</a:t>
                </a:r>
                <a:r>
                  <a: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E1B7ED5-277E-4D63-94FC-ABAC22EEDBE3}"/>
                  </a:ext>
                </a:extLst>
              </p:cNvPr>
              <p:cNvCxnSpPr/>
              <p:nvPr/>
            </p:nvCxnSpPr>
            <p:spPr>
              <a:xfrm>
                <a:off x="5821973" y="6311922"/>
                <a:ext cx="1822205" cy="7804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D6681ED2-4046-4323-9E8D-0255FD66E1BB}"/>
                  </a:ext>
                </a:extLst>
              </p:cNvPr>
              <p:cNvSpPr/>
              <p:nvPr/>
            </p:nvSpPr>
            <p:spPr>
              <a:xfrm>
                <a:off x="615845" y="6104036"/>
                <a:ext cx="2485050" cy="42572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NSWS </a:t>
                </a:r>
                <a:r>
                  <a: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Portal</a:t>
                </a:r>
                <a:r>
                  <a: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9B33E589-B332-4D4D-A8C0-37AA830364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0649" y="6311922"/>
                <a:ext cx="71013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303C081-14FF-41AF-AC30-610B72E1CCCF}"/>
                  </a:ext>
                </a:extLst>
              </p:cNvPr>
              <p:cNvSpPr/>
              <p:nvPr/>
            </p:nvSpPr>
            <p:spPr>
              <a:xfrm>
                <a:off x="3328251" y="5039014"/>
                <a:ext cx="2561905" cy="22932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Invoking Department API</a:t>
                </a: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81F2F93-A30F-4568-B07B-973F6D064917}"/>
                </a:ext>
              </a:extLst>
            </p:cNvPr>
            <p:cNvGrpSpPr/>
            <p:nvPr/>
          </p:nvGrpSpPr>
          <p:grpSpPr>
            <a:xfrm>
              <a:off x="6655997" y="2654036"/>
              <a:ext cx="3749042" cy="383395"/>
              <a:chOff x="7073164" y="2660246"/>
              <a:chExt cx="3749042" cy="383395"/>
            </a:xfrm>
          </p:grpSpPr>
          <p:sp>
            <p:nvSpPr>
              <p:cNvPr id="147" name="Rectangle: Rounded Corners 146">
                <a:extLst>
                  <a:ext uri="{FF2B5EF4-FFF2-40B4-BE49-F238E27FC236}">
                    <a16:creationId xmlns:a16="http://schemas.microsoft.com/office/drawing/2014/main" id="{85F9B6FC-9614-423C-8B99-5FC585008343}"/>
                  </a:ext>
                </a:extLst>
              </p:cNvPr>
              <p:cNvSpPr/>
              <p:nvPr/>
            </p:nvSpPr>
            <p:spPr>
              <a:xfrm>
                <a:off x="7073164" y="2660246"/>
                <a:ext cx="3749042" cy="38339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8" name="Rectangle: Rounded Corners 147">
                <a:extLst>
                  <a:ext uri="{FF2B5EF4-FFF2-40B4-BE49-F238E27FC236}">
                    <a16:creationId xmlns:a16="http://schemas.microsoft.com/office/drawing/2014/main" id="{C3536C6D-405D-4127-B4CA-9B7CA6971800}"/>
                  </a:ext>
                </a:extLst>
              </p:cNvPr>
              <p:cNvSpPr/>
              <p:nvPr/>
            </p:nvSpPr>
            <p:spPr>
              <a:xfrm>
                <a:off x="9150360" y="272262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DX Application 2</a:t>
                </a:r>
                <a:r>
                  <a: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149" name="Rectangle: Rounded Corners 148">
                <a:extLst>
                  <a:ext uri="{FF2B5EF4-FFF2-40B4-BE49-F238E27FC236}">
                    <a16:creationId xmlns:a16="http://schemas.microsoft.com/office/drawing/2014/main" id="{B4BA1799-6072-462C-91F1-105C54FAF4D3}"/>
                  </a:ext>
                </a:extLst>
              </p:cNvPr>
              <p:cNvSpPr/>
              <p:nvPr/>
            </p:nvSpPr>
            <p:spPr>
              <a:xfrm>
                <a:off x="7170704" y="273070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Department 2</a:t>
                </a:r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736F09CC-B745-4542-B231-966FE92082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42643" y="2862998"/>
                <a:ext cx="399182" cy="1"/>
              </a:xfrm>
              <a:prstGeom prst="straightConnector1">
                <a:avLst/>
              </a:prstGeom>
              <a:solidFill>
                <a:schemeClr val="bg1"/>
              </a:solidFill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BD4A57C-47CC-4C32-92C3-6F7B36CF089E}"/>
                </a:ext>
              </a:extLst>
            </p:cNvPr>
            <p:cNvGrpSpPr/>
            <p:nvPr/>
          </p:nvGrpSpPr>
          <p:grpSpPr>
            <a:xfrm>
              <a:off x="6648692" y="3186412"/>
              <a:ext cx="3749042" cy="383395"/>
              <a:chOff x="7073164" y="2660246"/>
              <a:chExt cx="3749042" cy="383395"/>
            </a:xfrm>
          </p:grpSpPr>
          <p:sp>
            <p:nvSpPr>
              <p:cNvPr id="158" name="Rectangle: Rounded Corners 157">
                <a:extLst>
                  <a:ext uri="{FF2B5EF4-FFF2-40B4-BE49-F238E27FC236}">
                    <a16:creationId xmlns:a16="http://schemas.microsoft.com/office/drawing/2014/main" id="{F95CC20B-03D0-4F2F-8D92-EBE690C20BDA}"/>
                  </a:ext>
                </a:extLst>
              </p:cNvPr>
              <p:cNvSpPr/>
              <p:nvPr/>
            </p:nvSpPr>
            <p:spPr>
              <a:xfrm>
                <a:off x="7073164" y="2660246"/>
                <a:ext cx="3749042" cy="38339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9" name="Rectangle: Rounded Corners 158">
                <a:extLst>
                  <a:ext uri="{FF2B5EF4-FFF2-40B4-BE49-F238E27FC236}">
                    <a16:creationId xmlns:a16="http://schemas.microsoft.com/office/drawing/2014/main" id="{AFDD2424-E643-4F05-AC12-0575C4C73266}"/>
                  </a:ext>
                </a:extLst>
              </p:cNvPr>
              <p:cNvSpPr/>
              <p:nvPr/>
            </p:nvSpPr>
            <p:spPr>
              <a:xfrm>
                <a:off x="9150360" y="272262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DX Application 3</a:t>
                </a:r>
                <a:r>
                  <a: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160" name="Rectangle: Rounded Corners 159">
                <a:extLst>
                  <a:ext uri="{FF2B5EF4-FFF2-40B4-BE49-F238E27FC236}">
                    <a16:creationId xmlns:a16="http://schemas.microsoft.com/office/drawing/2014/main" id="{7FC75414-B132-4BEE-8749-AADEB06016F7}"/>
                  </a:ext>
                </a:extLst>
              </p:cNvPr>
              <p:cNvSpPr/>
              <p:nvPr/>
            </p:nvSpPr>
            <p:spPr>
              <a:xfrm>
                <a:off x="7170704" y="273070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Department 3</a:t>
                </a:r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61" name="Straight Arrow Connector 160">
                <a:extLst>
                  <a:ext uri="{FF2B5EF4-FFF2-40B4-BE49-F238E27FC236}">
                    <a16:creationId xmlns:a16="http://schemas.microsoft.com/office/drawing/2014/main" id="{9D13EB08-9ED9-41A3-8B96-555E7FAD1F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42643" y="2862998"/>
                <a:ext cx="399182" cy="1"/>
              </a:xfrm>
              <a:prstGeom prst="straightConnector1">
                <a:avLst/>
              </a:prstGeom>
              <a:solidFill>
                <a:schemeClr val="bg1"/>
              </a:solidFill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E880DA77-2DCB-46D5-BC58-DC71B2597F24}"/>
                </a:ext>
              </a:extLst>
            </p:cNvPr>
            <p:cNvGrpSpPr/>
            <p:nvPr/>
          </p:nvGrpSpPr>
          <p:grpSpPr>
            <a:xfrm>
              <a:off x="6643241" y="3680480"/>
              <a:ext cx="3749042" cy="383395"/>
              <a:chOff x="7073164" y="2660246"/>
              <a:chExt cx="3749042" cy="383395"/>
            </a:xfrm>
          </p:grpSpPr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FC28A73E-3453-4ACA-B3ED-FE3A0B46A3DA}"/>
                  </a:ext>
                </a:extLst>
              </p:cNvPr>
              <p:cNvSpPr/>
              <p:nvPr/>
            </p:nvSpPr>
            <p:spPr>
              <a:xfrm>
                <a:off x="7073164" y="2660246"/>
                <a:ext cx="3749042" cy="38339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5BFBC289-BF5A-4E33-9A1B-1B543EEB141E}"/>
                  </a:ext>
                </a:extLst>
              </p:cNvPr>
              <p:cNvSpPr/>
              <p:nvPr/>
            </p:nvSpPr>
            <p:spPr>
              <a:xfrm>
                <a:off x="9150360" y="272262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DX Application n</a:t>
                </a:r>
                <a:r>
                  <a: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D3A01E30-AA0F-457E-A075-C4DFF82F2CFC}"/>
                  </a:ext>
                </a:extLst>
              </p:cNvPr>
              <p:cNvSpPr/>
              <p:nvPr/>
            </p:nvSpPr>
            <p:spPr>
              <a:xfrm>
                <a:off x="7170704" y="273070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Department n</a:t>
                </a:r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C78DE19E-2C8B-4219-8C2F-928A296C22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42643" y="2862998"/>
                <a:ext cx="399182" cy="1"/>
              </a:xfrm>
              <a:prstGeom prst="straightConnector1">
                <a:avLst/>
              </a:prstGeom>
              <a:solidFill>
                <a:schemeClr val="bg1"/>
              </a:solidFill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E93E9115-D2B2-4A45-B80E-7B0B3413E643}"/>
                </a:ext>
              </a:extLst>
            </p:cNvPr>
            <p:cNvGrpSpPr/>
            <p:nvPr/>
          </p:nvGrpSpPr>
          <p:grpSpPr>
            <a:xfrm>
              <a:off x="6648692" y="4236757"/>
              <a:ext cx="3749042" cy="383395"/>
              <a:chOff x="7073164" y="2660246"/>
              <a:chExt cx="3749042" cy="383395"/>
            </a:xfrm>
          </p:grpSpPr>
          <p:sp>
            <p:nvSpPr>
              <p:cNvPr id="168" name="Rectangle: Rounded Corners 167">
                <a:extLst>
                  <a:ext uri="{FF2B5EF4-FFF2-40B4-BE49-F238E27FC236}">
                    <a16:creationId xmlns:a16="http://schemas.microsoft.com/office/drawing/2014/main" id="{F7D6104B-86BB-4F3A-9087-33A4E4A77B19}"/>
                  </a:ext>
                </a:extLst>
              </p:cNvPr>
              <p:cNvSpPr/>
              <p:nvPr/>
            </p:nvSpPr>
            <p:spPr>
              <a:xfrm>
                <a:off x="7073164" y="2660246"/>
                <a:ext cx="3749042" cy="38339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Rectangle: Rounded Corners 168">
                <a:extLst>
                  <a:ext uri="{FF2B5EF4-FFF2-40B4-BE49-F238E27FC236}">
                    <a16:creationId xmlns:a16="http://schemas.microsoft.com/office/drawing/2014/main" id="{50E3E0EC-33BA-4833-8E4D-840FE7474C2B}"/>
                  </a:ext>
                </a:extLst>
              </p:cNvPr>
              <p:cNvSpPr/>
              <p:nvPr/>
            </p:nvSpPr>
            <p:spPr>
              <a:xfrm>
                <a:off x="9150360" y="272262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DX Application x</a:t>
                </a:r>
                <a:r>
                  <a: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170" name="Rectangle: Rounded Corners 169">
                <a:extLst>
                  <a:ext uri="{FF2B5EF4-FFF2-40B4-BE49-F238E27FC236}">
                    <a16:creationId xmlns:a16="http://schemas.microsoft.com/office/drawing/2014/main" id="{38B8A425-9A65-4AFC-8146-7C9ED8319ECB}"/>
                  </a:ext>
                </a:extLst>
              </p:cNvPr>
              <p:cNvSpPr/>
              <p:nvPr/>
            </p:nvSpPr>
            <p:spPr>
              <a:xfrm>
                <a:off x="7170704" y="273070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Department x</a:t>
                </a:r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A4EF640E-AB56-4C50-81F8-AD2080FE1F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42643" y="2862998"/>
                <a:ext cx="399182" cy="1"/>
              </a:xfrm>
              <a:prstGeom prst="straightConnector1">
                <a:avLst/>
              </a:prstGeom>
              <a:solidFill>
                <a:schemeClr val="bg1"/>
              </a:solidFill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33F0A113-F66E-46CC-A464-DDCED14486C0}"/>
                </a:ext>
              </a:extLst>
            </p:cNvPr>
            <p:cNvGrpSpPr/>
            <p:nvPr/>
          </p:nvGrpSpPr>
          <p:grpSpPr>
            <a:xfrm>
              <a:off x="6648692" y="2095185"/>
              <a:ext cx="3749042" cy="383395"/>
              <a:chOff x="7073164" y="2660246"/>
              <a:chExt cx="3749042" cy="383395"/>
            </a:xfrm>
          </p:grpSpPr>
          <p:sp>
            <p:nvSpPr>
              <p:cNvPr id="174" name="Rectangle: Rounded Corners 173">
                <a:extLst>
                  <a:ext uri="{FF2B5EF4-FFF2-40B4-BE49-F238E27FC236}">
                    <a16:creationId xmlns:a16="http://schemas.microsoft.com/office/drawing/2014/main" id="{6FD52547-1A9B-435D-8FD2-EDF8FE9159F8}"/>
                  </a:ext>
                </a:extLst>
              </p:cNvPr>
              <p:cNvSpPr/>
              <p:nvPr/>
            </p:nvSpPr>
            <p:spPr>
              <a:xfrm>
                <a:off x="7073164" y="2660246"/>
                <a:ext cx="3749042" cy="38339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DD621DB5-222D-4FF8-B15B-7174A3CC14B0}"/>
                  </a:ext>
                </a:extLst>
              </p:cNvPr>
              <p:cNvSpPr/>
              <p:nvPr/>
            </p:nvSpPr>
            <p:spPr>
              <a:xfrm>
                <a:off x="9150360" y="272262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DX Application 2</a:t>
                </a:r>
                <a:r>
                  <a: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176" name="Rectangle: Rounded Corners 175">
                <a:extLst>
                  <a:ext uri="{FF2B5EF4-FFF2-40B4-BE49-F238E27FC236}">
                    <a16:creationId xmlns:a16="http://schemas.microsoft.com/office/drawing/2014/main" id="{7AFC1E63-D482-490C-BE07-75DCC18ADF8E}"/>
                  </a:ext>
                </a:extLst>
              </p:cNvPr>
              <p:cNvSpPr/>
              <p:nvPr/>
            </p:nvSpPr>
            <p:spPr>
              <a:xfrm>
                <a:off x="7170704" y="273070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Department 1</a:t>
                </a:r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21B8C7F5-4A46-449C-A52B-65737C9AE8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42643" y="2862998"/>
                <a:ext cx="399182" cy="1"/>
              </a:xfrm>
              <a:prstGeom prst="straightConnector1">
                <a:avLst/>
              </a:prstGeom>
              <a:solidFill>
                <a:schemeClr val="bg1"/>
              </a:solidFill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672A3BF0-EE5A-415D-A49C-54B2A2C84198}"/>
                </a:ext>
              </a:extLst>
            </p:cNvPr>
            <p:cNvGrpSpPr/>
            <p:nvPr/>
          </p:nvGrpSpPr>
          <p:grpSpPr>
            <a:xfrm>
              <a:off x="6646375" y="4959098"/>
              <a:ext cx="3749042" cy="383395"/>
              <a:chOff x="7073164" y="2660246"/>
              <a:chExt cx="3749042" cy="383395"/>
            </a:xfrm>
          </p:grpSpPr>
          <p:sp>
            <p:nvSpPr>
              <p:cNvPr id="179" name="Rectangle: Rounded Corners 178">
                <a:extLst>
                  <a:ext uri="{FF2B5EF4-FFF2-40B4-BE49-F238E27FC236}">
                    <a16:creationId xmlns:a16="http://schemas.microsoft.com/office/drawing/2014/main" id="{D92DE6C4-188E-4230-8424-1E63EFEB8329}"/>
                  </a:ext>
                </a:extLst>
              </p:cNvPr>
              <p:cNvSpPr/>
              <p:nvPr/>
            </p:nvSpPr>
            <p:spPr>
              <a:xfrm>
                <a:off x="7073164" y="2660246"/>
                <a:ext cx="3749042" cy="38339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Rectangle: Rounded Corners 179">
                <a:extLst>
                  <a:ext uri="{FF2B5EF4-FFF2-40B4-BE49-F238E27FC236}">
                    <a16:creationId xmlns:a16="http://schemas.microsoft.com/office/drawing/2014/main" id="{27E1ED4F-AFDD-4AB9-8DAD-0B4E5576D75D}"/>
                  </a:ext>
                </a:extLst>
              </p:cNvPr>
              <p:cNvSpPr/>
              <p:nvPr/>
            </p:nvSpPr>
            <p:spPr>
              <a:xfrm>
                <a:off x="9150360" y="272262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DX Application y</a:t>
                </a:r>
                <a:r>
                  <a:rPr lang="en-IN" sz="1400" dirty="0"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181" name="Rectangle: Rounded Corners 180">
                <a:extLst>
                  <a:ext uri="{FF2B5EF4-FFF2-40B4-BE49-F238E27FC236}">
                    <a16:creationId xmlns:a16="http://schemas.microsoft.com/office/drawing/2014/main" id="{6C8A9D47-6192-4107-A961-71574CDD1FE2}"/>
                  </a:ext>
                </a:extLst>
              </p:cNvPr>
              <p:cNvSpPr/>
              <p:nvPr/>
            </p:nvSpPr>
            <p:spPr>
              <a:xfrm>
                <a:off x="7170704" y="2730702"/>
                <a:ext cx="1591570" cy="25286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Georgia" panose="02040502050405020303" pitchFamily="18" charset="0"/>
                    <a:ea typeface="Verdana" panose="020B0604030504040204" pitchFamily="34" charset="0"/>
                    <a:cs typeface="Calibri" panose="020F0502020204030204" pitchFamily="34" charset="0"/>
                  </a:rPr>
                  <a:t>Department y</a:t>
                </a:r>
                <a:endParaRPr lang="en-IN" sz="1400" dirty="0">
                  <a:latin typeface="Georgia" panose="02040502050405020303" pitchFamily="18" charset="0"/>
                  <a:ea typeface="Verdana" panose="020B060403050404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2" name="Straight Arrow Connector 181">
                <a:extLst>
                  <a:ext uri="{FF2B5EF4-FFF2-40B4-BE49-F238E27FC236}">
                    <a16:creationId xmlns:a16="http://schemas.microsoft.com/office/drawing/2014/main" id="{38577A67-C470-45AA-9998-93C3151162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42643" y="2862998"/>
                <a:ext cx="399182" cy="1"/>
              </a:xfrm>
              <a:prstGeom prst="straightConnector1">
                <a:avLst/>
              </a:prstGeom>
              <a:solidFill>
                <a:schemeClr val="bg1"/>
              </a:solidFill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80A5D1-3540-4AB7-84AE-FD7DEA32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6" y="803049"/>
            <a:ext cx="11698515" cy="532265"/>
          </a:xfrm>
          <a:solidFill>
            <a:srgbClr val="002060"/>
          </a:solidFill>
          <a:ln w="952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Integration Architecture </a:t>
            </a:r>
          </a:p>
        </p:txBody>
      </p:sp>
    </p:spTree>
    <p:extLst>
      <p:ext uri="{BB962C8B-B14F-4D97-AF65-F5344CB8AC3E}">
        <p14:creationId xmlns:p14="http://schemas.microsoft.com/office/powerpoint/2010/main" val="1142509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58F990-8B43-4AB8-9369-724AAEB39F87}"/>
              </a:ext>
            </a:extLst>
          </p:cNvPr>
          <p:cNvSpPr/>
          <p:nvPr/>
        </p:nvSpPr>
        <p:spPr>
          <a:xfrm>
            <a:off x="87086" y="1233716"/>
            <a:ext cx="11916229" cy="551542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0A5D1-3540-4AB7-84AE-FD7DEA32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6" y="803049"/>
            <a:ext cx="11698515" cy="532265"/>
          </a:xfrm>
          <a:solidFill>
            <a:srgbClr val="002060"/>
          </a:solidFill>
          <a:ln w="952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Application Architecture 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BD68515-4E42-4DCA-AEB5-ED0D01DF2DBC}"/>
              </a:ext>
            </a:extLst>
          </p:cNvPr>
          <p:cNvGrpSpPr/>
          <p:nvPr/>
        </p:nvGrpSpPr>
        <p:grpSpPr>
          <a:xfrm>
            <a:off x="159657" y="1451969"/>
            <a:ext cx="11698514" cy="5152031"/>
            <a:chOff x="361363" y="846992"/>
            <a:chExt cx="11671710" cy="554546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1521648-10BA-4181-A298-914839DC645F}"/>
                </a:ext>
              </a:extLst>
            </p:cNvPr>
            <p:cNvSpPr/>
            <p:nvPr/>
          </p:nvSpPr>
          <p:spPr>
            <a:xfrm>
              <a:off x="7276713" y="2397141"/>
              <a:ext cx="1310714" cy="24286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E9F51E4-BD93-489A-B9C9-B031D2386621}"/>
                </a:ext>
              </a:extLst>
            </p:cNvPr>
            <p:cNvSpPr/>
            <p:nvPr/>
          </p:nvSpPr>
          <p:spPr>
            <a:xfrm>
              <a:off x="6150341" y="851641"/>
              <a:ext cx="4579082" cy="5529636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85000"/>
              </a:schemeClr>
            </a:solidFill>
            <a:ln w="25400">
              <a:solidFill>
                <a:schemeClr val="accent2">
                  <a:lumMod val="75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F148EBA-97FA-4042-BB40-840BEBC2668F}"/>
                </a:ext>
              </a:extLst>
            </p:cNvPr>
            <p:cNvSpPr/>
            <p:nvPr/>
          </p:nvSpPr>
          <p:spPr>
            <a:xfrm>
              <a:off x="361363" y="846992"/>
              <a:ext cx="781563" cy="5545467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2">
                  <a:lumMod val="75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pic>
          <p:nvPicPr>
            <p:cNvPr id="74" name="Picture 7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F82A830-B380-48B1-9E93-3DBF3A317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997" y="2048126"/>
              <a:ext cx="610076" cy="828571"/>
            </a:xfrm>
            <a:prstGeom prst="rect">
              <a:avLst/>
            </a:prstGeom>
          </p:spPr>
        </p:pic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6064A55-4002-4431-B0F9-528143A63B36}"/>
                </a:ext>
              </a:extLst>
            </p:cNvPr>
            <p:cNvSpPr/>
            <p:nvPr/>
          </p:nvSpPr>
          <p:spPr>
            <a:xfrm>
              <a:off x="1275681" y="846993"/>
              <a:ext cx="4645589" cy="5529636"/>
            </a:xfrm>
            <a:prstGeom prst="rect">
              <a:avLst/>
            </a:prstGeom>
            <a:solidFill>
              <a:schemeClr val="bg1">
                <a:lumMod val="95000"/>
                <a:alpha val="85000"/>
              </a:schemeClr>
            </a:solidFill>
            <a:ln w="25400">
              <a:solidFill>
                <a:schemeClr val="accent2">
                  <a:lumMod val="75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76" name="Cylinder 75">
              <a:extLst>
                <a:ext uri="{FF2B5EF4-FFF2-40B4-BE49-F238E27FC236}">
                  <a16:creationId xmlns:a16="http://schemas.microsoft.com/office/drawing/2014/main" id="{B436045B-4C61-419F-A25D-1DD922DA552B}"/>
                </a:ext>
              </a:extLst>
            </p:cNvPr>
            <p:cNvSpPr/>
            <p:nvPr/>
          </p:nvSpPr>
          <p:spPr>
            <a:xfrm>
              <a:off x="4972205" y="1590167"/>
              <a:ext cx="848384" cy="740343"/>
            </a:xfrm>
            <a:prstGeom prst="can">
              <a:avLst>
                <a:gd name="adj" fmla="val 38836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Georgia" panose="02040502050405020303" pitchFamily="18" charset="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C155F23-F8B9-49E5-92C6-90959418996B}"/>
                </a:ext>
              </a:extLst>
            </p:cNvPr>
            <p:cNvGrpSpPr/>
            <p:nvPr/>
          </p:nvGrpSpPr>
          <p:grpSpPr>
            <a:xfrm>
              <a:off x="6351990" y="2675054"/>
              <a:ext cx="881783" cy="2428673"/>
              <a:chOff x="7240195" y="1841790"/>
              <a:chExt cx="1025424" cy="3385303"/>
            </a:xfrm>
          </p:grpSpPr>
          <p:sp>
            <p:nvSpPr>
              <p:cNvPr id="131" name="Cylinder 130">
                <a:extLst>
                  <a:ext uri="{FF2B5EF4-FFF2-40B4-BE49-F238E27FC236}">
                    <a16:creationId xmlns:a16="http://schemas.microsoft.com/office/drawing/2014/main" id="{F6D6563A-27BA-48EB-B9A3-DB8271CFAEC5}"/>
                  </a:ext>
                </a:extLst>
              </p:cNvPr>
              <p:cNvSpPr/>
              <p:nvPr/>
            </p:nvSpPr>
            <p:spPr>
              <a:xfrm>
                <a:off x="7301960" y="1841790"/>
                <a:ext cx="940447" cy="3385303"/>
              </a:xfrm>
              <a:prstGeom prst="can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D53B51A5-CB8B-4939-945B-17CCEDA88C39}"/>
                  </a:ext>
                </a:extLst>
              </p:cNvPr>
              <p:cNvGrpSpPr/>
              <p:nvPr/>
            </p:nvGrpSpPr>
            <p:grpSpPr>
              <a:xfrm>
                <a:off x="7240195" y="3051418"/>
                <a:ext cx="1025424" cy="858464"/>
                <a:chOff x="7728887" y="3230640"/>
                <a:chExt cx="1176748" cy="858464"/>
              </a:xfrm>
            </p:grpSpPr>
            <p:pic>
              <p:nvPicPr>
                <p:cNvPr id="133" name="Picture 132" descr="Icon&#10;&#10;Description automatically generated">
                  <a:extLst>
                    <a:ext uri="{FF2B5EF4-FFF2-40B4-BE49-F238E27FC236}">
                      <a16:creationId xmlns:a16="http://schemas.microsoft.com/office/drawing/2014/main" id="{3CCBE5BD-E8A6-4F92-8DA0-27ACEC37B8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41294" y="3713663"/>
                  <a:ext cx="996174" cy="375441"/>
                </a:xfrm>
                <a:prstGeom prst="rect">
                  <a:avLst/>
                </a:prstGeom>
              </p:spPr>
            </p:pic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495A816-A595-4F3F-A0DF-A9C7A27EA6FD}"/>
                    </a:ext>
                  </a:extLst>
                </p:cNvPr>
                <p:cNvSpPr txBox="1"/>
                <p:nvPr/>
              </p:nvSpPr>
              <p:spPr>
                <a:xfrm>
                  <a:off x="7728887" y="3230640"/>
                  <a:ext cx="1176748" cy="4290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Georgia" panose="02040502050405020303" pitchFamily="18" charset="0"/>
                    </a:rPr>
                    <a:t>Kafka </a:t>
                  </a:r>
                </a:p>
              </p:txBody>
            </p:sp>
          </p:grpSp>
        </p:grp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F8A59626-39D5-4915-AFFD-004548B908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2321" y="4028518"/>
              <a:ext cx="1882110" cy="1164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3A274D8-053E-4C16-9A39-4756F4888006}"/>
                </a:ext>
              </a:extLst>
            </p:cNvPr>
            <p:cNvSpPr/>
            <p:nvPr/>
          </p:nvSpPr>
          <p:spPr>
            <a:xfrm>
              <a:off x="1661993" y="2404253"/>
              <a:ext cx="862624" cy="1254881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Investor Portal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442CC6B-8E6E-4D09-B590-52F23BD7071E}"/>
                </a:ext>
              </a:extLst>
            </p:cNvPr>
            <p:cNvSpPr/>
            <p:nvPr/>
          </p:nvSpPr>
          <p:spPr>
            <a:xfrm>
              <a:off x="2880049" y="1794745"/>
              <a:ext cx="343186" cy="344549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AP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I Ga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t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eway 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AC8FE6F-BEB0-47AC-B6AE-16524FF94825}"/>
                </a:ext>
              </a:extLst>
            </p:cNvPr>
            <p:cNvSpPr/>
            <p:nvPr/>
          </p:nvSpPr>
          <p:spPr>
            <a:xfrm>
              <a:off x="3512624" y="1752840"/>
              <a:ext cx="1037139" cy="922216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 Keycloak SSO 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FA7CCB5-82C5-42F6-95A4-AFADC8671192}"/>
                </a:ext>
              </a:extLst>
            </p:cNvPr>
            <p:cNvSpPr/>
            <p:nvPr/>
          </p:nvSpPr>
          <p:spPr>
            <a:xfrm>
              <a:off x="3515519" y="2898905"/>
              <a:ext cx="1037138" cy="2420803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Investor Portal related Micro services 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E3CFBB5-870B-407C-8D99-2932A7A10A26}"/>
                </a:ext>
              </a:extLst>
            </p:cNvPr>
            <p:cNvSpPr txBox="1"/>
            <p:nvPr/>
          </p:nvSpPr>
          <p:spPr>
            <a:xfrm>
              <a:off x="4993953" y="3275111"/>
              <a:ext cx="9167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Georgia" panose="02040502050405020303" pitchFamily="18" charset="0"/>
                </a:rPr>
                <a:t>Database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0B3E9A6-AE64-46C3-B537-5301CBFD8360}"/>
                </a:ext>
              </a:extLst>
            </p:cNvPr>
            <p:cNvCxnSpPr>
              <a:cxnSpLocks/>
              <a:endCxn id="79" idx="1"/>
            </p:cNvCxnSpPr>
            <p:nvPr/>
          </p:nvCxnSpPr>
          <p:spPr>
            <a:xfrm>
              <a:off x="1273888" y="3031693"/>
              <a:ext cx="38810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903A5AAE-D5E5-4F46-A429-28022C9F04AD}"/>
                </a:ext>
              </a:extLst>
            </p:cNvPr>
            <p:cNvCxnSpPr>
              <a:cxnSpLocks/>
            </p:cNvCxnSpPr>
            <p:nvPr/>
          </p:nvCxnSpPr>
          <p:spPr>
            <a:xfrm>
              <a:off x="2524617" y="3083387"/>
              <a:ext cx="3671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2DACA83E-6CE6-4EF4-BFCE-41ECDE63B8C5}"/>
                </a:ext>
              </a:extLst>
            </p:cNvPr>
            <p:cNvCxnSpPr>
              <a:cxnSpLocks/>
              <a:endCxn id="81" idx="1"/>
            </p:cNvCxnSpPr>
            <p:nvPr/>
          </p:nvCxnSpPr>
          <p:spPr>
            <a:xfrm flipV="1">
              <a:off x="3223235" y="2213948"/>
              <a:ext cx="28938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E69EE885-CBE9-4322-A909-4546127084DC}"/>
                </a:ext>
              </a:extLst>
            </p:cNvPr>
            <p:cNvCxnSpPr>
              <a:cxnSpLocks/>
              <a:endCxn id="82" idx="1"/>
            </p:cNvCxnSpPr>
            <p:nvPr/>
          </p:nvCxnSpPr>
          <p:spPr>
            <a:xfrm>
              <a:off x="3252717" y="4109306"/>
              <a:ext cx="26280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FC8FE157-8043-4B35-8337-94740A3FAC14}"/>
                </a:ext>
              </a:extLst>
            </p:cNvPr>
            <p:cNvCxnSpPr>
              <a:cxnSpLocks/>
            </p:cNvCxnSpPr>
            <p:nvPr/>
          </p:nvCxnSpPr>
          <p:spPr>
            <a:xfrm>
              <a:off x="4549763" y="3379150"/>
              <a:ext cx="4742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3820E59-6D49-4F91-9A29-6A13E1D3B2A3}"/>
                </a:ext>
              </a:extLst>
            </p:cNvPr>
            <p:cNvSpPr txBox="1"/>
            <p:nvPr/>
          </p:nvSpPr>
          <p:spPr>
            <a:xfrm>
              <a:off x="4993953" y="1871798"/>
              <a:ext cx="9167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Georgia" panose="02040502050405020303" pitchFamily="18" charset="0"/>
                </a:rPr>
                <a:t>Database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BDEE3C3F-EFBF-4312-9C9B-E3EAC4EC75EA}"/>
                </a:ext>
              </a:extLst>
            </p:cNvPr>
            <p:cNvCxnSpPr>
              <a:cxnSpLocks/>
              <a:endCxn id="89" idx="1"/>
            </p:cNvCxnSpPr>
            <p:nvPr/>
          </p:nvCxnSpPr>
          <p:spPr>
            <a:xfrm>
              <a:off x="4549763" y="2025686"/>
              <a:ext cx="44419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253C087C-4A50-4F67-9629-4D422E2236A8}"/>
                </a:ext>
              </a:extLst>
            </p:cNvPr>
            <p:cNvGrpSpPr/>
            <p:nvPr/>
          </p:nvGrpSpPr>
          <p:grpSpPr>
            <a:xfrm rot="5400000">
              <a:off x="8856612" y="4573771"/>
              <a:ext cx="973066" cy="2442285"/>
              <a:chOff x="10728865" y="1134703"/>
              <a:chExt cx="956812" cy="2140394"/>
            </a:xfrm>
          </p:grpSpPr>
          <p:sp>
            <p:nvSpPr>
              <p:cNvPr id="126" name="Cylinder 125">
                <a:extLst>
                  <a:ext uri="{FF2B5EF4-FFF2-40B4-BE49-F238E27FC236}">
                    <a16:creationId xmlns:a16="http://schemas.microsoft.com/office/drawing/2014/main" id="{8A493381-49E7-46DE-9312-3F382B397A94}"/>
                  </a:ext>
                </a:extLst>
              </p:cNvPr>
              <p:cNvSpPr/>
              <p:nvPr/>
            </p:nvSpPr>
            <p:spPr>
              <a:xfrm rot="16200000">
                <a:off x="10841415" y="2406018"/>
                <a:ext cx="833521" cy="610455"/>
              </a:xfrm>
              <a:prstGeom prst="can">
                <a:avLst>
                  <a:gd name="adj" fmla="val 38836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B56C246D-6BB4-4359-8F9E-2F30C9DECCC4}"/>
                  </a:ext>
                </a:extLst>
              </p:cNvPr>
              <p:cNvGrpSpPr/>
              <p:nvPr/>
            </p:nvGrpSpPr>
            <p:grpSpPr>
              <a:xfrm>
                <a:off x="10728865" y="1134703"/>
                <a:ext cx="956812" cy="2140394"/>
                <a:chOff x="10763073" y="1055001"/>
                <a:chExt cx="956812" cy="2140394"/>
              </a:xfrm>
            </p:grpSpPr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AE45FE97-C6C9-4E0A-8081-900700CFD6CC}"/>
                    </a:ext>
                  </a:extLst>
                </p:cNvPr>
                <p:cNvSpPr/>
                <p:nvPr/>
              </p:nvSpPr>
              <p:spPr>
                <a:xfrm>
                  <a:off x="10763073" y="1055001"/>
                  <a:ext cx="956812" cy="2140394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E770378C-4F5F-4761-B959-F066A9DECF68}"/>
                    </a:ext>
                  </a:extLst>
                </p:cNvPr>
                <p:cNvSpPr txBox="1"/>
                <p:nvPr/>
              </p:nvSpPr>
              <p:spPr>
                <a:xfrm rot="16200000">
                  <a:off x="10843408" y="2337048"/>
                  <a:ext cx="1017480" cy="5144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Georgia" panose="02040502050405020303" pitchFamily="18" charset="0"/>
                    </a:rPr>
                    <a:t>Application DB</a:t>
                  </a:r>
                </a:p>
              </p:txBody>
            </p:sp>
            <p:pic>
              <p:nvPicPr>
                <p:cNvPr id="130" name="Picture 129" descr="A picture containing company name&#10;&#10;Description automatically generated">
                  <a:extLst>
                    <a:ext uri="{FF2B5EF4-FFF2-40B4-BE49-F238E27FC236}">
                      <a16:creationId xmlns:a16="http://schemas.microsoft.com/office/drawing/2014/main" id="{CD52FD13-6B5D-464B-936E-A1CDAA6919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879603" y="1570448"/>
                  <a:ext cx="532551" cy="511613"/>
                </a:xfrm>
                <a:prstGeom prst="rect">
                  <a:avLst/>
                </a:prstGeom>
              </p:spPr>
            </p:pic>
          </p:grpSp>
        </p:grpSp>
        <p:sp>
          <p:nvSpPr>
            <p:cNvPr id="92" name="Cylinder 91">
              <a:extLst>
                <a:ext uri="{FF2B5EF4-FFF2-40B4-BE49-F238E27FC236}">
                  <a16:creationId xmlns:a16="http://schemas.microsoft.com/office/drawing/2014/main" id="{99AD6AC9-613E-4833-A42A-AFA9DC83DECE}"/>
                </a:ext>
              </a:extLst>
            </p:cNvPr>
            <p:cNvSpPr/>
            <p:nvPr/>
          </p:nvSpPr>
          <p:spPr>
            <a:xfrm>
              <a:off x="5008174" y="2940362"/>
              <a:ext cx="848384" cy="740343"/>
            </a:xfrm>
            <a:prstGeom prst="can">
              <a:avLst>
                <a:gd name="adj" fmla="val 38836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Georgia" panose="02040502050405020303" pitchFamily="18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1B571D7-A071-4AD9-9A10-50059E554971}"/>
                </a:ext>
              </a:extLst>
            </p:cNvPr>
            <p:cNvSpPr/>
            <p:nvPr/>
          </p:nvSpPr>
          <p:spPr>
            <a:xfrm>
              <a:off x="6261608" y="5487445"/>
              <a:ext cx="1085760" cy="438495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Kafka Consumer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E25B63D-3D02-4C06-9530-D904E249CE32}"/>
                </a:ext>
              </a:extLst>
            </p:cNvPr>
            <p:cNvSpPr/>
            <p:nvPr/>
          </p:nvSpPr>
          <p:spPr>
            <a:xfrm>
              <a:off x="6261608" y="1635037"/>
              <a:ext cx="1085760" cy="438495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Kafka Producer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E1D991E7-EB48-471C-A19F-5A66DD2C45E5}"/>
                </a:ext>
              </a:extLst>
            </p:cNvPr>
            <p:cNvCxnSpPr/>
            <p:nvPr/>
          </p:nvCxnSpPr>
          <p:spPr>
            <a:xfrm>
              <a:off x="6783936" y="2179575"/>
              <a:ext cx="8945" cy="4351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8C983EE9-7EE1-47C4-9668-3FF113074802}"/>
                </a:ext>
              </a:extLst>
            </p:cNvPr>
            <p:cNvCxnSpPr>
              <a:cxnSpLocks/>
            </p:cNvCxnSpPr>
            <p:nvPr/>
          </p:nvCxnSpPr>
          <p:spPr>
            <a:xfrm>
              <a:off x="6827410" y="5157390"/>
              <a:ext cx="0" cy="286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AB4175E-7143-460C-BF3D-291B435D9AA2}"/>
                </a:ext>
              </a:extLst>
            </p:cNvPr>
            <p:cNvSpPr/>
            <p:nvPr/>
          </p:nvSpPr>
          <p:spPr>
            <a:xfrm>
              <a:off x="7402744" y="3414273"/>
              <a:ext cx="1120190" cy="742676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Integration Micro services 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362CFBC-F510-4A6D-B5A6-D10BD740139D}"/>
                </a:ext>
              </a:extLst>
            </p:cNvPr>
            <p:cNvSpPr/>
            <p:nvPr/>
          </p:nvSpPr>
          <p:spPr>
            <a:xfrm>
              <a:off x="7381562" y="2479258"/>
              <a:ext cx="1102853" cy="83525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Ministry Dashboard Micro services 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97B4E55-AC18-4853-8CF6-FD3A4B238C48}"/>
                </a:ext>
              </a:extLst>
            </p:cNvPr>
            <p:cNvSpPr/>
            <p:nvPr/>
          </p:nvSpPr>
          <p:spPr>
            <a:xfrm>
              <a:off x="8995876" y="1744961"/>
              <a:ext cx="343186" cy="2358643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AP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I Ga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t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eway 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1C2AF59-C554-4CE8-80D4-AC2E28F77C37}"/>
                </a:ext>
              </a:extLst>
            </p:cNvPr>
            <p:cNvSpPr txBox="1"/>
            <p:nvPr/>
          </p:nvSpPr>
          <p:spPr>
            <a:xfrm>
              <a:off x="9315293" y="5920554"/>
              <a:ext cx="1311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Georgia" panose="02040502050405020303" pitchFamily="18" charset="0"/>
                </a:rPr>
                <a:t>Document DB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91E37A8-2FF9-476A-9FAE-8EC396BD6C00}"/>
                </a:ext>
              </a:extLst>
            </p:cNvPr>
            <p:cNvSpPr/>
            <p:nvPr/>
          </p:nvSpPr>
          <p:spPr>
            <a:xfrm>
              <a:off x="7492975" y="1187355"/>
              <a:ext cx="1085759" cy="543681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Ministry  Portal</a:t>
              </a: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C59BDBB4-4D88-4217-9558-F69FE67803C8}"/>
                </a:ext>
              </a:extLst>
            </p:cNvPr>
            <p:cNvCxnSpPr>
              <a:cxnSpLocks/>
            </p:cNvCxnSpPr>
            <p:nvPr/>
          </p:nvCxnSpPr>
          <p:spPr>
            <a:xfrm>
              <a:off x="8624387" y="3582888"/>
              <a:ext cx="3085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: Elbow 102">
              <a:extLst>
                <a:ext uri="{FF2B5EF4-FFF2-40B4-BE49-F238E27FC236}">
                  <a16:creationId xmlns:a16="http://schemas.microsoft.com/office/drawing/2014/main" id="{B30387EC-EB1F-435F-8318-6F5DB0622B79}"/>
                </a:ext>
              </a:extLst>
            </p:cNvPr>
            <p:cNvCxnSpPr>
              <a:cxnSpLocks/>
              <a:stCxn id="101" idx="2"/>
            </p:cNvCxnSpPr>
            <p:nvPr/>
          </p:nvCxnSpPr>
          <p:spPr>
            <a:xfrm rot="16200000" flipH="1">
              <a:off x="8184679" y="1582212"/>
              <a:ext cx="599474" cy="89712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32915B9-9E7D-4AA1-8FCE-21E8DF1A8BD5}"/>
                </a:ext>
              </a:extLst>
            </p:cNvPr>
            <p:cNvSpPr/>
            <p:nvPr/>
          </p:nvSpPr>
          <p:spPr>
            <a:xfrm>
              <a:off x="11063046" y="877931"/>
              <a:ext cx="846343" cy="549870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2">
                  <a:lumMod val="75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pic>
          <p:nvPicPr>
            <p:cNvPr id="105" name="Picture 10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8578928-26CC-45F0-991C-DEE5ED70C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21125" y="1326082"/>
              <a:ext cx="610076" cy="575809"/>
            </a:xfrm>
            <a:prstGeom prst="rect">
              <a:avLst/>
            </a:prstGeom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91C5B15-77FE-4894-96CD-E951F7C91C22}"/>
                </a:ext>
              </a:extLst>
            </p:cNvPr>
            <p:cNvSpPr txBox="1"/>
            <p:nvPr/>
          </p:nvSpPr>
          <p:spPr>
            <a:xfrm>
              <a:off x="11030355" y="1869148"/>
              <a:ext cx="8795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Georgia" panose="02040502050405020303" pitchFamily="18" charset="0"/>
                </a:rPr>
                <a:t>Ministry </a:t>
              </a:r>
            </a:p>
            <a:p>
              <a:r>
                <a:rPr lang="en-US" sz="1400" dirty="0">
                  <a:latin typeface="Georgia" panose="02040502050405020303" pitchFamily="18" charset="0"/>
                </a:rPr>
                <a:t>Officer 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C69BB27B-5FF0-4EF3-A7A0-472A02A9431B}"/>
                </a:ext>
              </a:extLst>
            </p:cNvPr>
            <p:cNvSpPr txBox="1"/>
            <p:nvPr/>
          </p:nvSpPr>
          <p:spPr>
            <a:xfrm>
              <a:off x="381979" y="3048923"/>
              <a:ext cx="8464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Georgia" panose="02040502050405020303" pitchFamily="18" charset="0"/>
                </a:rPr>
                <a:t>Investor </a:t>
              </a:r>
            </a:p>
            <a:p>
              <a:endParaRPr lang="en-US" sz="1400" dirty="0">
                <a:latin typeface="Georgia" panose="02040502050405020303" pitchFamily="18" charset="0"/>
              </a:endParaRPr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0043E0C9-797F-43E9-9C11-2E2BDBB2A9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4387" y="1472018"/>
              <a:ext cx="2424687" cy="1558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pic>
          <p:nvPicPr>
            <p:cNvPr id="109" name="Picture 108" descr="A picture containing text, electronics, businesscard, display&#10;&#10;Description automatically generated">
              <a:extLst>
                <a:ext uri="{FF2B5EF4-FFF2-40B4-BE49-F238E27FC236}">
                  <a16:creationId xmlns:a16="http://schemas.microsoft.com/office/drawing/2014/main" id="{03C26D84-8981-487B-B37B-4FFD869FC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2047" y="2571400"/>
              <a:ext cx="524789" cy="744464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3C7AF5D8-62E2-4456-A341-9CCEA43489DC}"/>
                </a:ext>
              </a:extLst>
            </p:cNvPr>
            <p:cNvSpPr txBox="1"/>
            <p:nvPr/>
          </p:nvSpPr>
          <p:spPr>
            <a:xfrm>
              <a:off x="11125908" y="3422234"/>
              <a:ext cx="87959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Georgia" panose="02040502050405020303" pitchFamily="18" charset="0"/>
                </a:rPr>
                <a:t>Ministry </a:t>
              </a:r>
            </a:p>
            <a:p>
              <a:r>
                <a:rPr lang="en-US" sz="1400" dirty="0">
                  <a:latin typeface="Georgia" panose="02040502050405020303" pitchFamily="18" charset="0"/>
                </a:rPr>
                <a:t>/State System 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5DA7CF9B-4092-4A52-AADC-1693393EDC83}"/>
                </a:ext>
              </a:extLst>
            </p:cNvPr>
            <p:cNvCxnSpPr>
              <a:cxnSpLocks/>
              <a:stCxn id="109" idx="1"/>
            </p:cNvCxnSpPr>
            <p:nvPr/>
          </p:nvCxnSpPr>
          <p:spPr>
            <a:xfrm flipH="1">
              <a:off x="9363295" y="2943632"/>
              <a:ext cx="18887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Connector: Elbow 111">
              <a:extLst>
                <a:ext uri="{FF2B5EF4-FFF2-40B4-BE49-F238E27FC236}">
                  <a16:creationId xmlns:a16="http://schemas.microsoft.com/office/drawing/2014/main" id="{E10EF760-8C44-423A-900D-8FA308B84B9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696892" y="-1017318"/>
              <a:ext cx="1810492" cy="7213938"/>
            </a:xfrm>
            <a:prstGeom prst="bentConnector4">
              <a:avLst>
                <a:gd name="adj1" fmla="val -34626"/>
                <a:gd name="adj2" fmla="val 95421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Connector: Elbow 112">
              <a:extLst>
                <a:ext uri="{FF2B5EF4-FFF2-40B4-BE49-F238E27FC236}">
                  <a16:creationId xmlns:a16="http://schemas.microsoft.com/office/drawing/2014/main" id="{80F909C7-20C0-4005-9F09-83422BAE8075}"/>
                </a:ext>
              </a:extLst>
            </p:cNvPr>
            <p:cNvCxnSpPr>
              <a:cxnSpLocks/>
              <a:endCxn id="94" idx="3"/>
            </p:cNvCxnSpPr>
            <p:nvPr/>
          </p:nvCxnSpPr>
          <p:spPr>
            <a:xfrm rot="16200000" flipV="1">
              <a:off x="7331666" y="1869988"/>
              <a:ext cx="531501" cy="50009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ctor: Elbow 113">
              <a:extLst>
                <a:ext uri="{FF2B5EF4-FFF2-40B4-BE49-F238E27FC236}">
                  <a16:creationId xmlns:a16="http://schemas.microsoft.com/office/drawing/2014/main" id="{EDC0E754-73AB-4755-A194-1CA702E7C941}"/>
                </a:ext>
              </a:extLst>
            </p:cNvPr>
            <p:cNvCxnSpPr/>
            <p:nvPr/>
          </p:nvCxnSpPr>
          <p:spPr>
            <a:xfrm rot="5400000" flipH="1" flipV="1">
              <a:off x="6966927" y="4980564"/>
              <a:ext cx="623778" cy="30338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A2FAABD-8877-489B-83FA-5A8BA3BB957F}"/>
                </a:ext>
              </a:extLst>
            </p:cNvPr>
            <p:cNvSpPr/>
            <p:nvPr/>
          </p:nvSpPr>
          <p:spPr>
            <a:xfrm>
              <a:off x="9058883" y="4256536"/>
              <a:ext cx="914400" cy="73034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Ministry specific Adapter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05FCC1A1-7CA0-4326-A545-7110D5B09C8B}"/>
                </a:ext>
              </a:extLst>
            </p:cNvPr>
            <p:cNvCxnSpPr>
              <a:cxnSpLocks/>
              <a:endCxn id="115" idx="1"/>
            </p:cNvCxnSpPr>
            <p:nvPr/>
          </p:nvCxnSpPr>
          <p:spPr>
            <a:xfrm>
              <a:off x="8605907" y="4621706"/>
              <a:ext cx="4529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: Elbow 116">
              <a:extLst>
                <a:ext uri="{FF2B5EF4-FFF2-40B4-BE49-F238E27FC236}">
                  <a16:creationId xmlns:a16="http://schemas.microsoft.com/office/drawing/2014/main" id="{DC17FA2E-8173-4EC7-8C43-5AA10CDFDD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9118" y="3643546"/>
              <a:ext cx="1223654" cy="978160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408CFC3-AA4C-427C-82C7-48E26A1026FB}"/>
                </a:ext>
              </a:extLst>
            </p:cNvPr>
            <p:cNvSpPr/>
            <p:nvPr/>
          </p:nvSpPr>
          <p:spPr>
            <a:xfrm>
              <a:off x="7447278" y="4209482"/>
              <a:ext cx="1037138" cy="44530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25400">
              <a:solidFill>
                <a:schemeClr val="accent1">
                  <a:shade val="50000"/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eorgia" panose="02040502050405020303" pitchFamily="18" charset="0"/>
                </a:rPr>
                <a:t>DMS API</a:t>
              </a:r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40C23F89-1BC0-4B76-A57F-FE9A0E97C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2143" y="5368373"/>
              <a:ext cx="745880" cy="731520"/>
            </a:xfrm>
            <a:prstGeom prst="rect">
              <a:avLst/>
            </a:prstGeom>
          </p:spPr>
        </p:pic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A51DFD3-515D-4E5D-8893-366F7DA2BE6C}"/>
                </a:ext>
              </a:extLst>
            </p:cNvPr>
            <p:cNvSpPr txBox="1"/>
            <p:nvPr/>
          </p:nvSpPr>
          <p:spPr>
            <a:xfrm>
              <a:off x="7507848" y="6043665"/>
              <a:ext cx="5889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Georgia" panose="02040502050405020303" pitchFamily="18" charset="0"/>
                </a:rPr>
                <a:t>S3</a:t>
              </a:r>
            </a:p>
          </p:txBody>
        </p:sp>
        <p:cxnSp>
          <p:nvCxnSpPr>
            <p:cNvPr id="121" name="Connector: Elbow 120">
              <a:extLst>
                <a:ext uri="{FF2B5EF4-FFF2-40B4-BE49-F238E27FC236}">
                  <a16:creationId xmlns:a16="http://schemas.microsoft.com/office/drawing/2014/main" id="{E57C7943-F59E-4DBB-8558-7AF1477517FE}"/>
                </a:ext>
              </a:extLst>
            </p:cNvPr>
            <p:cNvCxnSpPr/>
            <p:nvPr/>
          </p:nvCxnSpPr>
          <p:spPr>
            <a:xfrm rot="16200000" flipH="1">
              <a:off x="7987078" y="4869144"/>
              <a:ext cx="480399" cy="382847"/>
            </a:xfrm>
            <a:prstGeom prst="bent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2A05D88F-1802-4872-9192-E3E5CABB1838}"/>
                </a:ext>
              </a:extLst>
            </p:cNvPr>
            <p:cNvCxnSpPr/>
            <p:nvPr/>
          </p:nvCxnSpPr>
          <p:spPr>
            <a:xfrm>
              <a:off x="7766122" y="4654784"/>
              <a:ext cx="0" cy="71358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3" name="Picture 122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72B25ECE-0682-4EB5-AF05-7B336E1B5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8522" y="4580575"/>
              <a:ext cx="608007" cy="523221"/>
            </a:xfrm>
            <a:prstGeom prst="rect">
              <a:avLst/>
            </a:prstGeom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834EA6F6-AB63-46E6-97E5-7C310193A1DD}"/>
                </a:ext>
              </a:extLst>
            </p:cNvPr>
            <p:cNvSpPr txBox="1"/>
            <p:nvPr/>
          </p:nvSpPr>
          <p:spPr>
            <a:xfrm>
              <a:off x="11045861" y="5201387"/>
              <a:ext cx="98721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Georgia" panose="02040502050405020303" pitchFamily="18" charset="0"/>
                </a:rPr>
                <a:t>Payment Gateway </a:t>
              </a:r>
            </a:p>
            <a:p>
              <a:endParaRPr lang="en-US" sz="1400" dirty="0">
                <a:latin typeface="Georgia" panose="02040502050405020303" pitchFamily="18" charset="0"/>
              </a:endParaRPr>
            </a:p>
          </p:txBody>
        </p:sp>
        <p:cxnSp>
          <p:nvCxnSpPr>
            <p:cNvPr id="125" name="Connector: Elbow 124">
              <a:extLst>
                <a:ext uri="{FF2B5EF4-FFF2-40B4-BE49-F238E27FC236}">
                  <a16:creationId xmlns:a16="http://schemas.microsoft.com/office/drawing/2014/main" id="{4FB4A3E6-B6EB-40A0-BD05-C173F19BB4B5}"/>
                </a:ext>
              </a:extLst>
            </p:cNvPr>
            <p:cNvCxnSpPr>
              <a:cxnSpLocks/>
            </p:cNvCxnSpPr>
            <p:nvPr/>
          </p:nvCxnSpPr>
          <p:spPr>
            <a:xfrm>
              <a:off x="8605907" y="4740215"/>
              <a:ext cx="2393247" cy="399593"/>
            </a:xfrm>
            <a:prstGeom prst="bentConnector3">
              <a:avLst>
                <a:gd name="adj1" fmla="val 8941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250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58F990-8B43-4AB8-9369-724AAEB39F87}"/>
              </a:ext>
            </a:extLst>
          </p:cNvPr>
          <p:cNvSpPr/>
          <p:nvPr/>
        </p:nvSpPr>
        <p:spPr>
          <a:xfrm>
            <a:off x="87086" y="1146632"/>
            <a:ext cx="11916229" cy="551542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  <a:latin typeface="Georgia" panose="02040502050405020303" pitchFamily="18" charset="0"/>
              </a:rPr>
              <a:t>24 Containers </a:t>
            </a: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(12 in AZ1 and 12 in AZ2) which has 2.0 vCPU with 2 GB memory which is autoscaling between 2 to 10 for the following Services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Homepage (Drupal)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Frontend (ReactJS)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Keycloak (Authentication)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JAVA config, </a:t>
            </a:r>
            <a:r>
              <a:rPr lang="en-US" dirty="0" err="1">
                <a:solidFill>
                  <a:schemeClr val="tx1"/>
                </a:solidFill>
                <a:latin typeface="Georgia" panose="02040502050405020303" pitchFamily="18" charset="0"/>
              </a:rPr>
              <a:t>Zuul</a:t>
            </a: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 Gateway, Admin, Auth, KYA, Form Builder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Integration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Notification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User Management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2 Nodes for Kubernetes Cluster (32 vCPU with 128 GB memory each node)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Database – Aurora (8 vCPU and 64 GB memory with multi AZ)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S3 – For all images and static contents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0A5D1-3540-4AB7-84AE-FD7DEA32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6" y="715965"/>
            <a:ext cx="11698515" cy="532265"/>
          </a:xfrm>
          <a:solidFill>
            <a:srgbClr val="002060"/>
          </a:solidFill>
          <a:ln w="952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Investor Portal Sizing </a:t>
            </a:r>
          </a:p>
        </p:txBody>
      </p:sp>
    </p:spTree>
    <p:extLst>
      <p:ext uri="{BB962C8B-B14F-4D97-AF65-F5344CB8AC3E}">
        <p14:creationId xmlns:p14="http://schemas.microsoft.com/office/powerpoint/2010/main" val="3710857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58F990-8B43-4AB8-9369-724AAEB39F87}"/>
              </a:ext>
            </a:extLst>
          </p:cNvPr>
          <p:cNvSpPr/>
          <p:nvPr/>
        </p:nvSpPr>
        <p:spPr>
          <a:xfrm>
            <a:off x="87086" y="1132118"/>
            <a:ext cx="11916229" cy="551542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  <a:latin typeface="Georgia" panose="02040502050405020303" pitchFamily="18" charset="0"/>
              </a:rPr>
              <a:t>32 Containers </a:t>
            </a: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(16 in AZ1 and 16 in AZ2) which has 2.0 vCPU with 2 GB memory which is autoscaling between 2 to 10 for the following Services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ReactJS, Gateway, Document, Eureka, User Service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License Worklist, Ministry Department Details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User OTP Service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License PDF Generator, KAFKA, Wrapper API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JSON Convertor, License, Payment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Clarification,  Acknowledgement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2 Nodes for Kubernetes Cluster (32 vCPU with 128 GB memory each node)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Database – MySQL RDS (8 vCPU and 64 GB memory with multi AZ)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AWS Document DB (8 vCPU and 64 GB memory with multi AZ)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 S3 – For all Document Management System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0A5D1-3540-4AB7-84AE-FD7DEA32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6" y="701451"/>
            <a:ext cx="11698515" cy="532265"/>
          </a:xfrm>
          <a:solidFill>
            <a:srgbClr val="002060"/>
          </a:solidFill>
          <a:ln w="952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Integration - Sizing</a:t>
            </a:r>
          </a:p>
        </p:txBody>
      </p:sp>
    </p:spTree>
    <p:extLst>
      <p:ext uri="{BB962C8B-B14F-4D97-AF65-F5344CB8AC3E}">
        <p14:creationId xmlns:p14="http://schemas.microsoft.com/office/powerpoint/2010/main" val="2697843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58F990-8B43-4AB8-9369-724AAEB39F87}"/>
              </a:ext>
            </a:extLst>
          </p:cNvPr>
          <p:cNvSpPr/>
          <p:nvPr/>
        </p:nvSpPr>
        <p:spPr>
          <a:xfrm>
            <a:off x="87086" y="1146632"/>
            <a:ext cx="11916229" cy="551542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0A5D1-3540-4AB7-84AE-FD7DEA32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6" y="715965"/>
            <a:ext cx="11698515" cy="532265"/>
          </a:xfrm>
          <a:solidFill>
            <a:srgbClr val="002060"/>
          </a:solidFill>
          <a:ln w="952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Application and Infra Security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C16B96-301B-45AB-86AD-87B9A0CBB4F2}"/>
              </a:ext>
            </a:extLst>
          </p:cNvPr>
          <p:cNvSpPr/>
          <p:nvPr/>
        </p:nvSpPr>
        <p:spPr>
          <a:xfrm>
            <a:off x="348344" y="1494233"/>
            <a:ext cx="10566400" cy="5035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Fortigate Firewall – VM 16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DDOS (Currently in Learning mode)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AWS WAF – Web Application Firewall (Currently in Learning mode)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Deep Security – Host Intrusion Prevention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Guard Duty – AWS as Service (Analyze malicious traffic)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Patch Management – AWS Patch Manager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Network Access Control List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Security Group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Transit Gateway – Routing across VPC’s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VPN Access through Firewall (Authentication via AD)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System audit Logs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Application Logs, S3 and Database Backup </a:t>
            </a:r>
          </a:p>
        </p:txBody>
      </p:sp>
    </p:spTree>
    <p:extLst>
      <p:ext uri="{BB962C8B-B14F-4D97-AF65-F5344CB8AC3E}">
        <p14:creationId xmlns:p14="http://schemas.microsoft.com/office/powerpoint/2010/main" val="2389215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58F990-8B43-4AB8-9369-724AAEB39F87}"/>
              </a:ext>
            </a:extLst>
          </p:cNvPr>
          <p:cNvSpPr/>
          <p:nvPr/>
        </p:nvSpPr>
        <p:spPr>
          <a:xfrm>
            <a:off x="87086" y="1132118"/>
            <a:ext cx="11916229" cy="551542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0A5D1-3540-4AB7-84AE-FD7DEA32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6" y="701451"/>
            <a:ext cx="11698515" cy="532265"/>
          </a:xfrm>
          <a:solidFill>
            <a:srgbClr val="002060"/>
          </a:solidFill>
          <a:ln w="952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System and Application Monitoring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ABCB49-B1E2-4B37-9E7A-40F5937B64A3}"/>
              </a:ext>
            </a:extLst>
          </p:cNvPr>
          <p:cNvSpPr/>
          <p:nvPr/>
        </p:nvSpPr>
        <p:spPr>
          <a:xfrm>
            <a:off x="348344" y="1494233"/>
            <a:ext cx="10566400" cy="2534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24/7 NOC Operations – Well trained associates monitoring the infrastructure and Application services uptime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CloudWatch – CPU, Firewall, Kafka, Container, memory monitoring 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PMON – Infra and Application (In-progress) Monitoring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Prometheus &amp; Grafana (To be done)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Kibana for Log Monitoring </a:t>
            </a:r>
          </a:p>
        </p:txBody>
      </p:sp>
    </p:spTree>
    <p:extLst>
      <p:ext uri="{BB962C8B-B14F-4D97-AF65-F5344CB8AC3E}">
        <p14:creationId xmlns:p14="http://schemas.microsoft.com/office/powerpoint/2010/main" val="1680741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58F990-8B43-4AB8-9369-724AAEB39F87}"/>
              </a:ext>
            </a:extLst>
          </p:cNvPr>
          <p:cNvSpPr/>
          <p:nvPr/>
        </p:nvSpPr>
        <p:spPr>
          <a:xfrm>
            <a:off x="87086" y="1132118"/>
            <a:ext cx="11916229" cy="551542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0A5D1-3540-4AB7-84AE-FD7DEA32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6" y="701451"/>
            <a:ext cx="11698515" cy="532265"/>
          </a:xfrm>
          <a:solidFill>
            <a:srgbClr val="002060"/>
          </a:solidFill>
          <a:ln w="952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Application Deployment Process Flow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4362F1-40EE-4EC3-9580-A1D9449A211B}"/>
              </a:ext>
            </a:extLst>
          </p:cNvPr>
          <p:cNvGrpSpPr/>
          <p:nvPr/>
        </p:nvGrpSpPr>
        <p:grpSpPr>
          <a:xfrm>
            <a:off x="233166" y="1437919"/>
            <a:ext cx="11653095" cy="5046322"/>
            <a:chOff x="227023" y="305708"/>
            <a:chExt cx="11653095" cy="504632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DFD2AB-0D0C-4D11-872E-C988665379B3}"/>
                </a:ext>
              </a:extLst>
            </p:cNvPr>
            <p:cNvSpPr/>
            <p:nvPr/>
          </p:nvSpPr>
          <p:spPr>
            <a:xfrm>
              <a:off x="480460" y="459155"/>
              <a:ext cx="2776684" cy="136964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Georgia" panose="02040502050405020303" pitchFamily="18" charset="0"/>
                  <a:cs typeface="Calibri"/>
                </a:rPr>
                <a:t>Developer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9ABEDF0F-F24B-4188-88EF-289BB95E6BA4}"/>
                </a:ext>
              </a:extLst>
            </p:cNvPr>
            <p:cNvSpPr/>
            <p:nvPr/>
          </p:nvSpPr>
          <p:spPr>
            <a:xfrm>
              <a:off x="3257144" y="898293"/>
              <a:ext cx="1922724" cy="46292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45621-A095-448B-833D-D6361113A1FA}"/>
                </a:ext>
              </a:extLst>
            </p:cNvPr>
            <p:cNvSpPr txBox="1"/>
            <p:nvPr/>
          </p:nvSpPr>
          <p:spPr>
            <a:xfrm>
              <a:off x="3341035" y="1387003"/>
              <a:ext cx="158218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Georgia" panose="02040502050405020303" pitchFamily="18" charset="0"/>
                </a:rPr>
                <a:t>Git Commit</a:t>
              </a:r>
            </a:p>
          </p:txBody>
        </p:sp>
        <p:sp>
          <p:nvSpPr>
            <p:cNvPr id="8" name="Flowchart: Magnetic Disk 7">
              <a:extLst>
                <a:ext uri="{FF2B5EF4-FFF2-40B4-BE49-F238E27FC236}">
                  <a16:creationId xmlns:a16="http://schemas.microsoft.com/office/drawing/2014/main" id="{C61CBF39-3DD5-4C65-B022-832DE0FB7714}"/>
                </a:ext>
              </a:extLst>
            </p:cNvPr>
            <p:cNvSpPr/>
            <p:nvPr/>
          </p:nvSpPr>
          <p:spPr>
            <a:xfrm>
              <a:off x="5179868" y="305708"/>
              <a:ext cx="2776684" cy="1838063"/>
            </a:xfrm>
            <a:prstGeom prst="flowChartMagneticDisk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Georgia" panose="02040502050405020303" pitchFamily="18" charset="0"/>
                  <a:cs typeface="Calibri"/>
                </a:rPr>
                <a:t>Git/SVN Repository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BAA8EF-2DE5-4192-AB91-A0B0980D86D2}"/>
                </a:ext>
              </a:extLst>
            </p:cNvPr>
            <p:cNvSpPr txBox="1"/>
            <p:nvPr/>
          </p:nvSpPr>
          <p:spPr>
            <a:xfrm>
              <a:off x="5431669" y="3954421"/>
              <a:ext cx="2499016" cy="34975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endParaRPr lang="en-US" dirty="0">
                <a:cs typeface="Calibri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31E069A-D8C1-48A3-841D-3B877F23A03E}"/>
                </a:ext>
              </a:extLst>
            </p:cNvPr>
            <p:cNvSpPr txBox="1"/>
            <p:nvPr/>
          </p:nvSpPr>
          <p:spPr>
            <a:xfrm>
              <a:off x="1978531" y="4811001"/>
              <a:ext cx="924050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>
                  <a:latin typeface="Georgia" panose="02040502050405020303" pitchFamily="18" charset="0"/>
                </a:rPr>
                <a:t>Docker Build</a:t>
              </a:r>
              <a:endParaRPr lang="en-US" sz="1400" dirty="0">
                <a:latin typeface="Georgia" panose="02040502050405020303" pitchFamily="18" charset="0"/>
                <a:cs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A7A083-2062-476F-815E-90343E13081D}"/>
                </a:ext>
              </a:extLst>
            </p:cNvPr>
            <p:cNvSpPr txBox="1"/>
            <p:nvPr/>
          </p:nvSpPr>
          <p:spPr>
            <a:xfrm>
              <a:off x="4250606" y="4828810"/>
              <a:ext cx="1333332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Image Push to ECR</a:t>
              </a:r>
              <a:endParaRPr lang="en-US" sz="1400" dirty="0">
                <a:latin typeface="Georgia" panose="02040502050405020303" pitchFamily="18" charset="0"/>
                <a:cs typeface="Calibri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1991E5-0B90-4466-84C0-4F97CE5354C9}"/>
                </a:ext>
              </a:extLst>
            </p:cNvPr>
            <p:cNvSpPr txBox="1"/>
            <p:nvPr/>
          </p:nvSpPr>
          <p:spPr>
            <a:xfrm>
              <a:off x="6723568" y="4884153"/>
              <a:ext cx="1189259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Image Pull</a:t>
              </a:r>
              <a:endParaRPr lang="en-US" dirty="0">
                <a:latin typeface="Georgia" panose="02040502050405020303" pitchFamily="18" charset="0"/>
                <a:cs typeface="Calibri" panose="020F050202020403020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AEB0B5-9508-401E-A1D7-5ECC6BA395A1}"/>
                </a:ext>
              </a:extLst>
            </p:cNvPr>
            <p:cNvSpPr txBox="1"/>
            <p:nvPr/>
          </p:nvSpPr>
          <p:spPr>
            <a:xfrm>
              <a:off x="9101225" y="4893438"/>
              <a:ext cx="1333332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Notifications</a:t>
              </a:r>
              <a:endParaRPr lang="en-US" dirty="0">
                <a:latin typeface="Georgia" panose="02040502050405020303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C3DDDF-3232-4802-BA97-3F346CA387D9}"/>
                </a:ext>
              </a:extLst>
            </p:cNvPr>
            <p:cNvSpPr txBox="1"/>
            <p:nvPr/>
          </p:nvSpPr>
          <p:spPr>
            <a:xfrm>
              <a:off x="2021082" y="3061740"/>
              <a:ext cx="9010309" cy="461665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latin typeface="Georgia" panose="02040502050405020303" pitchFamily="18" charset="0"/>
                </a:rPr>
                <a:t>Jenkins</a:t>
              </a:r>
            </a:p>
          </p:txBody>
        </p:sp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00B71875-D1A8-45E5-A889-0EE585B33BBF}"/>
                </a:ext>
              </a:extLst>
            </p:cNvPr>
            <p:cNvSpPr/>
            <p:nvPr/>
          </p:nvSpPr>
          <p:spPr>
            <a:xfrm>
              <a:off x="6270835" y="2154905"/>
              <a:ext cx="510805" cy="854542"/>
            </a:xfrm>
            <a:prstGeom prst="downArrow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E6333C-48C4-4039-BDFF-DDE4EF35A907}"/>
                </a:ext>
              </a:extLst>
            </p:cNvPr>
            <p:cNvSpPr txBox="1"/>
            <p:nvPr/>
          </p:nvSpPr>
          <p:spPr>
            <a:xfrm>
              <a:off x="6707044" y="2239784"/>
              <a:ext cx="81188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dirty="0">
                  <a:latin typeface="Georgia" panose="02040502050405020303" pitchFamily="18" charset="0"/>
                </a:rPr>
                <a:t>Build</a:t>
              </a:r>
            </a:p>
          </p:txBody>
        </p:sp>
        <p:graphicFrame>
          <p:nvGraphicFramePr>
            <p:cNvPr id="17" name="Diagram 16">
              <a:extLst>
                <a:ext uri="{FF2B5EF4-FFF2-40B4-BE49-F238E27FC236}">
                  <a16:creationId xmlns:a16="http://schemas.microsoft.com/office/drawing/2014/main" id="{253731B9-7EF4-4D69-BD37-3504164BA27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38337687"/>
                </p:ext>
              </p:extLst>
            </p:nvPr>
          </p:nvGraphicFramePr>
          <p:xfrm>
            <a:off x="227023" y="3858903"/>
            <a:ext cx="11653095" cy="102952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34B8ACCD-C560-4000-AD25-5FEF50AEDECF}"/>
                </a:ext>
              </a:extLst>
            </p:cNvPr>
            <p:cNvSpPr/>
            <p:nvPr/>
          </p:nvSpPr>
          <p:spPr>
            <a:xfrm>
              <a:off x="6261041" y="3523404"/>
              <a:ext cx="510805" cy="325149"/>
            </a:xfrm>
            <a:prstGeom prst="downArrow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6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A5D1-3540-4AB7-84AE-FD7DEA32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314" y="3164114"/>
            <a:ext cx="11553371" cy="986971"/>
          </a:xfrm>
          <a:ln>
            <a:solidFill>
              <a:srgbClr val="0070C0"/>
            </a:solidFill>
          </a:ln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049431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524</Words>
  <Application>Microsoft Office PowerPoint</Application>
  <PresentationFormat>Widescreen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SimSun</vt:lpstr>
      <vt:lpstr>Arial</vt:lpstr>
      <vt:lpstr>Calibri</vt:lpstr>
      <vt:lpstr>Calibri Light</vt:lpstr>
      <vt:lpstr>Georgia</vt:lpstr>
      <vt:lpstr>Wingdings</vt:lpstr>
      <vt:lpstr>Office Theme</vt:lpstr>
      <vt:lpstr>National Single Window System</vt:lpstr>
      <vt:lpstr>Deployment Architecture </vt:lpstr>
      <vt:lpstr>Integration Architecture </vt:lpstr>
      <vt:lpstr>Application Architecture </vt:lpstr>
      <vt:lpstr>Investor Portal Sizing </vt:lpstr>
      <vt:lpstr>Integration - Sizing</vt:lpstr>
      <vt:lpstr>Application and Infra Security </vt:lpstr>
      <vt:lpstr>System and Application Monitoring </vt:lpstr>
      <vt:lpstr>Application Deployment Process Flow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Single Window System</dc:title>
  <dc:creator>Magesh H.G</dc:creator>
  <cp:lastModifiedBy>Magesh H.G</cp:lastModifiedBy>
  <cp:revision>18</cp:revision>
  <dcterms:created xsi:type="dcterms:W3CDTF">2021-06-23T09:57:58Z</dcterms:created>
  <dcterms:modified xsi:type="dcterms:W3CDTF">2021-06-23T13:55:11Z</dcterms:modified>
</cp:coreProperties>
</file>